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fc3f0187bd455d" /><Relationship Type="http://schemas.openxmlformats.org/officeDocument/2006/relationships/extended-properties" Target="/docProps/app.xml" Id="Rfc797e8354bd499f" /><Relationship Type="http://schemas.openxmlformats.org/officeDocument/2006/relationships/officeDocument" Target="/ppt/presentation.xml" Id="Rd881148967a24d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a4f5699a444301"/>
  </p:sldMasterIdLst>
  <p:notesMasterIdLst>
    <p:notesMasterId xmlns:r="http://schemas.openxmlformats.org/officeDocument/2006/relationships" r:id="R960ac12d9e704ac3"/>
  </p:notesMasterIdLst>
  <p:sldIdLst>
    <p:sldId xmlns:r="http://schemas.openxmlformats.org/officeDocument/2006/relationships" id="256" r:id="R5cc3454b9368470e"/>
    <p:sldId xmlns:r="http://schemas.openxmlformats.org/officeDocument/2006/relationships" id="257" r:id="R2fefbe4d42494d3e"/>
    <p:sldId xmlns:r="http://schemas.openxmlformats.org/officeDocument/2006/relationships" id="258" r:id="Raab07087537e4b65"/>
    <p:sldId xmlns:r="http://schemas.openxmlformats.org/officeDocument/2006/relationships" id="259" r:id="R1226dd81c5224b19"/>
    <p:sldId xmlns:r="http://schemas.openxmlformats.org/officeDocument/2006/relationships" id="260" r:id="Rcec1923f94724ff7"/>
    <p:sldId xmlns:r="http://schemas.openxmlformats.org/officeDocument/2006/relationships" id="261" r:id="R90914ad3ddc24ab3"/>
    <p:sldId xmlns:r="http://schemas.openxmlformats.org/officeDocument/2006/relationships" id="262" r:id="R2f40afa140ec45a6"/>
    <p:sldId xmlns:r="http://schemas.openxmlformats.org/officeDocument/2006/relationships" id="263" r:id="R9fcd921f065440c6"/>
    <p:sldId xmlns:r="http://schemas.openxmlformats.org/officeDocument/2006/relationships" id="264" r:id="Rbffe94a4cf4a43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79990ae0546be" /><Relationship Type="http://schemas.openxmlformats.org/officeDocument/2006/relationships/slideMaster" Target="/ppt/slideMasters/slideMaster1.xml" Id="R10a4f5699a444301" /><Relationship Type="http://schemas.openxmlformats.org/officeDocument/2006/relationships/notesMaster" Target="/ppt/notesMasters/notesMaster1.xml" Id="R960ac12d9e704ac3" /><Relationship Type="http://schemas.openxmlformats.org/officeDocument/2006/relationships/presProps" Target="/ppt/presProps.xml" Id="R63bbfe6ddedf429d" /><Relationship Type="http://schemas.openxmlformats.org/officeDocument/2006/relationships/viewProps" Target="/ppt/viewProps.xml" Id="R8f486c45d5e54798" /><Relationship Type="http://schemas.openxmlformats.org/officeDocument/2006/relationships/tableStyles" Target="/ppt/tableStyles.xml" Id="Rb0b1c93d57a44464" /><Relationship Type="http://schemas.openxmlformats.org/officeDocument/2006/relationships/slide" Target="/ppt/slides/slide1.xml" Id="R5cc3454b9368470e" /><Relationship Type="http://schemas.openxmlformats.org/officeDocument/2006/relationships/slide" Target="/ppt/slides/slide2.xml" Id="R2fefbe4d42494d3e" /><Relationship Type="http://schemas.openxmlformats.org/officeDocument/2006/relationships/slide" Target="/ppt/slides/slide3.xml" Id="Raab07087537e4b65" /><Relationship Type="http://schemas.openxmlformats.org/officeDocument/2006/relationships/slide" Target="/ppt/slides/slide4.xml" Id="R1226dd81c5224b19" /><Relationship Type="http://schemas.openxmlformats.org/officeDocument/2006/relationships/slide" Target="/ppt/slides/slide5.xml" Id="Rcec1923f94724ff7" /><Relationship Type="http://schemas.openxmlformats.org/officeDocument/2006/relationships/slide" Target="/ppt/slides/slide6.xml" Id="R90914ad3ddc24ab3" /><Relationship Type="http://schemas.openxmlformats.org/officeDocument/2006/relationships/slide" Target="/ppt/slides/slide7.xml" Id="R2f40afa140ec45a6" /><Relationship Type="http://schemas.openxmlformats.org/officeDocument/2006/relationships/slide" Target="/ppt/slides/slide8.xml" Id="R9fcd921f065440c6" /><Relationship Type="http://schemas.openxmlformats.org/officeDocument/2006/relationships/slide" Target="/ppt/slides/slide9.xml" Id="Rbffe94a4cf4a43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f3a3eaf48c4c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9c47b263c64c2c" /><Relationship Type="http://schemas.openxmlformats.org/officeDocument/2006/relationships/notesMaster" Target="/ppt/notesMasters/notesMaster1.xml" Id="R919751496a6747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7a105a656e4c4d" /><Relationship Type="http://schemas.openxmlformats.org/officeDocument/2006/relationships/notesMaster" Target="/ppt/notesMasters/notesMaster1.xml" Id="R7ee682d5308f42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a0c5e8fd3a41a7" /><Relationship Type="http://schemas.openxmlformats.org/officeDocument/2006/relationships/notesMaster" Target="/ppt/notesMasters/notesMaster1.xml" Id="R83a4befa697249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8e57ec347a4fe8" /><Relationship Type="http://schemas.openxmlformats.org/officeDocument/2006/relationships/notesMaster" Target="/ppt/notesMasters/notesMaster1.xml" Id="R6ef3ca2d732644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f605189a246c8" /><Relationship Type="http://schemas.openxmlformats.org/officeDocument/2006/relationships/notesMaster" Target="/ppt/notesMasters/notesMaster1.xml" Id="R15a80e142f0944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e640994124cf8" /><Relationship Type="http://schemas.openxmlformats.org/officeDocument/2006/relationships/notesMaster" Target="/ppt/notesMasters/notesMaster1.xml" Id="R23ddd41085a048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9c295290984743" /><Relationship Type="http://schemas.openxmlformats.org/officeDocument/2006/relationships/notesMaster" Target="/ppt/notesMasters/notesMaster1.xml" Id="R07d1b31b9d5f45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b4c00e1e2b454f" /><Relationship Type="http://schemas.openxmlformats.org/officeDocument/2006/relationships/notesMaster" Target="/ppt/notesMasters/notesMaster1.xml" Id="Re36a6b5ac92242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ff23ef3d664b13" /><Relationship Type="http://schemas.openxmlformats.org/officeDocument/2006/relationships/notesMaster" Target="/ppt/notesMasters/notesMaster1.xml" Id="R21ce8eeaa1d748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results/final-evaluation-valid-matrix.csv and results/final-evaluation-valid-matrix.json. Values are recorded observations; no comparative inference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1b9501f4f44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9d8e4885947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545b33c2c45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bfc0d4c7a48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8c77e2d1c4a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697b275194db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70fb8c93940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0f58d8edc4c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9f2e6a5db473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001ebd656444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2eab2146c4fa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8B08FF-0B7B-9B07-1AA6-9D28B36DD5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BF5BC3-D249-4838-EB83-7485FEB9E5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00FAB7-89A5-245E-BE40-B77C7C929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E65FEF-444C-39E0-2714-99EE538943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94A803-880E-B906-ED8D-8C866B65B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1734DF-9A22-CC05-F734-A09444B7B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CAE12D-94A6-67EA-3AB5-C1CBC91098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8FF387-3DDE-F673-5A93-E3E36D836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D830B-A6CA-1E9A-ECF8-3A62A9FA8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7641A8-FEAA-80C9-3D45-CFFC63A44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41F70-FA77-5EB5-C0ED-4EDFF84EC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01C6C2-609F-973A-64EA-A118EFBD6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9711A4-CD4E-5F83-F4B3-71B03A0F8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EE6B92-8BB8-EEF7-1E0A-5D8E24471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AF8F9C-F684-3038-BC5E-F78F32B2F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240795-04CF-D6DF-2814-45273C1CF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950572-7AE6-FCD1-7248-4E54358B68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36BB1B-5601-BD96-7EC8-75A1C4BA15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7F9A7D-893F-894C-A94B-E58A0D266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07C37D-207A-7B44-04BF-8DBDB70D2C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035840-6CCC-F4E4-0358-1985A5AFF4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6D99FB-22F7-2E4B-BBFD-ECC7D0565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691B17-238F-CC3A-F8EA-1FC1581E9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C92CCA-2F8F-3D4A-1F5C-F9E234D06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68B9F84-DCA3-4153-0AD9-0C5DE2EC5C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51DD40-EA2E-15D6-94E9-9E5C6D37ADB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9834E9A-9E95-2570-1266-A36DD1C30B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C6C9C01-EEE1-7A8E-065A-AD459CBF74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68DFE3A-1FDD-D9F2-92C2-1F892B185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61157B-E6B9-4F5A-F52C-52178B727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579FAB1-39E6-6F65-34CB-0360B12736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BE12599-830A-9850-F66B-87450ADEA5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2A2461C-AD66-2FFE-8FF4-6F2C3E7B08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822BC82-27FA-5D9B-5AB1-37512F404A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2DEDB66-AF3F-339D-309D-8A0CC4905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4725CF8-2F11-61BE-E1C3-34021FCDA4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438F1E-9446-C2BC-C73B-6A08D1E27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EC3A11-86B4-72B5-8E52-2F034C0809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FD0CA3-D7C6-FFEB-7649-8E463B4722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0C7DAFC-9A47-AB4C-CBA0-8C56DA612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C1289E-3148-CE92-C759-B39EA4BB6D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C249BE-9A53-5DC9-68EA-17A3384719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3EAF8-34BC-7635-5824-48651A6B8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38FD32-E0CB-5924-E7DD-556CD59F9A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E61DA1-9B0D-3A34-00CE-8EEFC859B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F23A86-3D57-B2C6-086D-2E1225A43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658CF4-2A4F-0403-0563-7B7072EC5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777934-192C-5CFF-854D-6927D0D9F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5DCF4-56FE-FB8C-D17F-D5A82443E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CDF659-2E87-08A8-053C-9ACC4BE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CB92B-5C35-671A-CCE7-97EE6F6B67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AB156-CC75-A50B-5E24-509704E79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78814C-B816-967E-995E-59C14488E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94DAA91-27B5-06D5-1C42-ED8ACC595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A3B551-DB6B-7308-F070-6C94E8C30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BA29B1-3325-4C7F-492E-AA3D333DA5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6CAB23-8CF9-7C5B-798B-CBD7B3CCC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B1DA3D-2DEA-C323-C195-CC700D5BF6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cf4befe1b34cea" /><Relationship Type="http://schemas.openxmlformats.org/officeDocument/2006/relationships/slideLayout" Target="/ppt/slideLayouts/slideLayout1.xml" Id="R6acd547f57934c6b" /><Relationship Type="http://schemas.openxmlformats.org/officeDocument/2006/relationships/slideLayout" Target="/ppt/slideLayouts/slideLayout2.xml" Id="Reb649c8189da4393" /><Relationship Type="http://schemas.openxmlformats.org/officeDocument/2006/relationships/slideLayout" Target="/ppt/slideLayouts/slideLayout3.xml" Id="R8c6cced3d649410a" /><Relationship Type="http://schemas.openxmlformats.org/officeDocument/2006/relationships/slideLayout" Target="/ppt/slideLayouts/slideLayout4.xml" Id="Rac502afbb9654bd9" /><Relationship Type="http://schemas.openxmlformats.org/officeDocument/2006/relationships/slideLayout" Target="/ppt/slideLayouts/slideLayout5.xml" Id="Rdd14036c3f41424b" /><Relationship Type="http://schemas.openxmlformats.org/officeDocument/2006/relationships/slideLayout" Target="/ppt/slideLayouts/slideLayout6.xml" Id="R7487f5bb4176432f" /><Relationship Type="http://schemas.openxmlformats.org/officeDocument/2006/relationships/slideLayout" Target="/ppt/slideLayouts/slideLayout7.xml" Id="Rf5d8b38d7e714c0a" /><Relationship Type="http://schemas.openxmlformats.org/officeDocument/2006/relationships/slideLayout" Target="/ppt/slideLayouts/slideLayout8.xml" Id="Rcf5a3d353b084373" /><Relationship Type="http://schemas.openxmlformats.org/officeDocument/2006/relationships/slideLayout" Target="/ppt/slideLayouts/slideLayout9.xml" Id="R95c90feaac0f47e8" /><Relationship Type="http://schemas.openxmlformats.org/officeDocument/2006/relationships/slideLayout" Target="/ppt/slideLayouts/slideLayout10.xml" Id="R0df20244f7ff4145" /><Relationship Type="http://schemas.openxmlformats.org/officeDocument/2006/relationships/slideLayout" Target="/ppt/slideLayouts/slideLayout11.xml" Id="R17d5d487ef264be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9C33FA-A4B9-C63C-0061-226641DC9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83632-EF3B-451A-D80B-3ECE844ED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85655-65AC-9BC6-EF55-5096D65E9C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D764CE-7A3C-9BE7-CDCE-CE12A31881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983D2C-3B26-704D-E16D-609F67C02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cd547f57934c6b"/>
    <p:sldLayoutId xmlns:r="http://schemas.openxmlformats.org/officeDocument/2006/relationships" id="2147483650" r:id="Reb649c8189da4393"/>
    <p:sldLayoutId xmlns:r="http://schemas.openxmlformats.org/officeDocument/2006/relationships" id="2147483651" r:id="R8c6cced3d649410a"/>
    <p:sldLayoutId xmlns:r="http://schemas.openxmlformats.org/officeDocument/2006/relationships" id="2147483652" r:id="Rac502afbb9654bd9"/>
    <p:sldLayoutId xmlns:r="http://schemas.openxmlformats.org/officeDocument/2006/relationships" id="2147483653" r:id="Rdd14036c3f41424b"/>
    <p:sldLayoutId xmlns:r="http://schemas.openxmlformats.org/officeDocument/2006/relationships" id="2147483654" r:id="R7487f5bb4176432f"/>
    <p:sldLayoutId xmlns:r="http://schemas.openxmlformats.org/officeDocument/2006/relationships" id="2147483655" r:id="Rf5d8b38d7e714c0a"/>
    <p:sldLayoutId xmlns:r="http://schemas.openxmlformats.org/officeDocument/2006/relationships" id="2147483656" r:id="Rcf5a3d353b084373"/>
    <p:sldLayoutId xmlns:r="http://schemas.openxmlformats.org/officeDocument/2006/relationships" id="2147483657" r:id="R95c90feaac0f47e8"/>
    <p:sldLayoutId xmlns:r="http://schemas.openxmlformats.org/officeDocument/2006/relationships" id="2147483658" r:id="R0df20244f7ff4145"/>
    <p:sldLayoutId xmlns:r="http://schemas.openxmlformats.org/officeDocument/2006/relationships" id="2147483659" r:id="R17d5d487ef264be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787bf6c8645ad" /><Relationship Type="http://schemas.openxmlformats.org/officeDocument/2006/relationships/image" Target="/ppt/media/image.jpeg" Id="Raa47e8311db14230" /><Relationship Type="http://schemas.openxmlformats.org/officeDocument/2006/relationships/notesSlide" Target="/ppt/notesSlides/notesSlide1.xml" Id="Ra0d4c07f3ca941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2e7bdb89145fd" /><Relationship Type="http://schemas.openxmlformats.org/officeDocument/2006/relationships/notesSlide" Target="/ppt/notesSlides/notesSlide2.xml" Id="R32c7ac40b1fd4d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5614a2ea5481f" /><Relationship Type="http://schemas.openxmlformats.org/officeDocument/2006/relationships/notesSlide" Target="/ppt/notesSlides/notesSlide3.xml" Id="Rd91e0a07590741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3f110441b46eb" /><Relationship Type="http://schemas.openxmlformats.org/officeDocument/2006/relationships/notesSlide" Target="/ppt/notesSlides/notesSlide4.xml" Id="R8150d5c358ee48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29899bd84210" /><Relationship Type="http://schemas.openxmlformats.org/officeDocument/2006/relationships/notesSlide" Target="/ppt/notesSlides/notesSlide5.xml" Id="R879852edbebf44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0b6f4f65a4dc6" /><Relationship Type="http://schemas.openxmlformats.org/officeDocument/2006/relationships/image" Target="/ppt/media/image.png" Id="Red29c55d1f534041" /><Relationship Type="http://schemas.openxmlformats.org/officeDocument/2006/relationships/notesSlide" Target="/ppt/notesSlides/notesSlide6.xml" Id="R1a507ffadfc94a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b4311c6574636" /><Relationship Type="http://schemas.openxmlformats.org/officeDocument/2006/relationships/chart" Target="/ppt/slides/charts/chart1.xml" Id="R83f6aa38d652436a" /><Relationship Type="http://schemas.openxmlformats.org/officeDocument/2006/relationships/image" Target="/ppt/media/image2.png" Id="Re0396836360040bd" /><Relationship Type="http://schemas.openxmlformats.org/officeDocument/2006/relationships/notesSlide" Target="/ppt/notesSlides/notesSlide7.xml" Id="Rfad691ebcaa040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1368abf214ec6" /><Relationship Type="http://schemas.openxmlformats.org/officeDocument/2006/relationships/notesSlide" Target="/ppt/notesSlides/notesSlide8.xml" Id="R9189b6ab31dc43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c7f0e69214ebd" /><Relationship Type="http://schemas.openxmlformats.org/officeDocument/2006/relationships/notesSlide" Target="/ppt/notesSlides/notesSlide9.xml" Id="R14b54f883b5d41e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Reactive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11.983</c:v>
                </c:pt>
                <c:pt idx="1">
                  <c:v>14.018</c:v>
                </c:pt>
                <c:pt idx="2">
                  <c:v>12.428</c:v>
                </c:pt>
                <c:pt idx="3">
                  <c:v>7.919</c:v>
                </c:pt>
                <c:pt idx="4">
                  <c:v>15.531</c:v>
                </c:pt>
              </c:numCache>
            </c:numRef>
          </c:val>
        </c:ser>
        <c:ser>
          <c:idx val="1"/>
          <c:order val="1"/>
          <c:tx>
            <c:v>Predictive</c:v>
          </c:tx>
          <c:spPr>
            <a:solidFill xmlns:a="http://schemas.openxmlformats.org/drawingml/2006/main">
              <a:srgbClr val="548235"/>
            </a:solidFill>
          </c:spPr>
          <c:cat>
            <c:strRef>
              <c:f>'Chart Data'!$C$2:$C$6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15.933</c:v>
                </c:pt>
                <c:pt idx="1">
                  <c:v>12.424</c:v>
                </c:pt>
                <c:pt idx="2">
                  <c:v>7.147</c:v>
                </c:pt>
                <c:pt idx="3">
                  <c:v>12.715</c:v>
                </c:pt>
                <c:pt idx="4">
                  <c:v>9.649</c:v>
                </c:pt>
              </c:numCache>
            </c:numRef>
          </c:val>
        </c:ser>
        <c:ser>
          <c:idx val="2"/>
          <c:order val="2"/>
          <c:tx>
            <c:v>Adaptive predictive</c:v>
          </c:tx>
          <c:spPr>
            <a:solidFill xmlns:a="http://schemas.openxmlformats.org/drawingml/2006/main">
              <a:srgbClr val="8064A2"/>
            </a:solidFill>
          </c:spPr>
          <c:cat>
            <c:strRef>
              <c:f>'Chart Data'!$E$2:$E$6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16.161</c:v>
                </c:pt>
                <c:pt idx="1">
                  <c:v>14.812</c:v>
                </c:pt>
                <c:pt idx="2">
                  <c:v>11.073</c:v>
                </c:pt>
                <c:pt idx="3">
                  <c:v>12.955</c:v>
                </c:pt>
                <c:pt idx="4">
                  <c:v>11.435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Prediction MAE (CPU percentage points)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418564D3-926B-481C-9378-AB75591A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338" y="3637801"/>
            <a:ext cx="7773035" cy="829506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0000" tIns="45000" rIns="90000" bIns="9144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ML-BASED CLOUD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RESOURCE PREDICTION &amp; AUTO-SCALING SYSTEM</a:t>
            </a:r>
            <a:endParaRPr sz="2800"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E51A6C-1A2C-9693-2ED2-0A388F2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48" y="2966772"/>
            <a:ext cx="32004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74320" indent="-273685" algn="ctr">
              <a:spcBef>
                <a:spcPts val="581"/>
              </a:spcBef>
              <a:buNone/>
            </a:pPr>
            <a:r>
              <a:rPr sz="28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32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A6</a:t>
            </a:r>
            <a:endParaRPr sz="3200" b="1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A92C21-F41C-CB31-65DA-71792B313A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50366" y="1792160"/>
            <a:ext cx="8458200" cy="1088358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latin typeface="Times New Roman"/>
                <a:ea typeface="Times New Roman"/>
                <a:cs typeface="Times New Roman"/>
              </a:rPr>
              <a:t>     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sz="2200" b="1">
                <a:latin typeface="Times New Roman"/>
                <a:ea typeface="Times New Roman"/>
                <a:cs typeface="Times New Roman"/>
              </a:rPr>
              <a:t>ACADEMIC YEAR : 2026 -2027</a:t>
            </a:r>
            <a:br/>
            <a:br/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  </a:t>
            </a:r>
            <a:r>
              <a:rPr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DOMAIN: CLOUD COMPUTING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845F23-B03F-3F2F-C63D-AE20A24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3" y="4890982"/>
            <a:ext cx="2447925" cy="99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12700"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GUIDE NAME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Dr. A. PUNITHA, </a:t>
            </a:r>
            <a:r>
              <a:rPr sz="1300">
                <a:latin typeface="Times New Roman"/>
                <a:ea typeface="Times New Roman"/>
                <a:cs typeface="Times New Roman"/>
              </a:rPr>
              <a:t>Ph.D</a:t>
            </a:r>
            <a:r>
              <a:rPr sz="1300"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ASSISTANT PROFESSOR(</a:t>
            </a:r>
            <a:r>
              <a:rPr sz="1300">
                <a:latin typeface="Times New Roman"/>
                <a:ea typeface="Times New Roman"/>
                <a:cs typeface="Times New Roman"/>
              </a:rPr>
              <a:t>Sr.Gr</a:t>
            </a:r>
            <a:r>
              <a:rPr sz="13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DEPARTMENT OF IT</a:t>
            </a: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341926-F6AB-9C8D-4EE9-FFC54D2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303" y="4628275"/>
            <a:ext cx="2930525" cy="119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 marL="12700"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TEAM MEMBERS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PETER SAMUEL. R [23TH0269]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JOEL RAJKUMAR. W [23TH0237]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NAVAMANI. B [23TH0260]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JAYASURYA. K [23TH0235]</a:t>
            </a:r>
          </a:p>
        </p:txBody>
      </p:sp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47e8311db14230"/>
          <a:srcRect xmlns:a="http://schemas.openxmlformats.org/drawingml/2006/main" l="0" t="0" r="0" b="34418"/>
          <a:stretch xmlns:a="http://schemas.openxmlformats.org/drawingml/2006/main"/>
        </p:blipFill>
        <p:spPr>
          <a:xfrm xmlns:a="http://schemas.openxmlformats.org/drawingml/2006/main">
            <a:off x="1812119" y="173245"/>
            <a:ext cx="8753475" cy="1530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99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AB19D-B04A-4D23-951B-9284DD7B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OBJECTIVES &amp;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374FE-58E1-4F6E-9C56-03162DC2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E782F-A846-4D1C-BDBF-EB491061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84B33-AECB-4044-A115-0688259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9B573-1A3F-4493-96BC-3C55BEA0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1522E-C06E-42E2-86A8-9DA72B87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9D4BA-B826-42D3-A290-9C5B9777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538162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A5EAD-E73E-4852-AA77-DF695344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1B546-095E-4437-942A-EC39035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F1E20-49AA-421B-A9CF-0FF8FE95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 resource utilisation and workload for healthy container replicas.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5E3E8-262A-45FA-8E26-73F0D29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CF5A5-6473-4242-92B0-DF6DBA5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21160-B015-4A61-A311-1BA8C1AE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 future aggregate CPU utilisation with Random Forest regression.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8BC9A-EF89-46D3-8968-F57464E8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368B2-BE26-4515-A4EF-BC64AB87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E44D1-EF9C-4404-AE90-9ED0435F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Apply reactive and predictive scaling within configured replica limits.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FBA1F-7262-45EF-9C35-0BCF52DB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C7FF4-A424-4762-9F10-C052B6B2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3E7F9-55A5-4449-9253-46F33FC3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Maintain safe Nginx membership for labelled Docker replicas.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B9D5C-216F-4ECF-8565-C3880D92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92EC2-DC52-4212-8114-678EF1D2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8C1F2-79BD-482F-8F8A-B564C702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Detect persistent forecast errors and retrain only after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CBAFF-B3FC-407F-84A6-0F720157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93854-7B59-40CC-94F5-CB70C6C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DED1A-C3BC-47AB-91AE-FF74F38B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policies under controlled workload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EDFE9-D450-4C95-8767-14876DE8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6257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B8370-6B8A-4126-B9C8-414A0FCB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66875"/>
            <a:ext cx="4714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This project implements a Docker-based framework for comparing reactive, predictive, and error-aware adaptive predictive autoscaling. Locust sends controlled traffic through Nginx to healthy FastAPI replicas. The monitoring pipeline stores five-second CPU, memory, request-rate, response-time, and replica measurements in MongoDB. A Random Forest regression model predicts aggregate CPU 30 seconds ahead using only information available at the prediction time. The controller records prediction feedback and can retrain a candidate model after persistent errors, subject to chronological validation before activation.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0B70F-5A8B-43A6-B2A9-258B708E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714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E0E723-AD5B-4CF0-AE16-53F05701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Primary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0967D-0830-4D51-AD62-2EBCB531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aggregate CPU utilisation</a:t>
            </a:r>
          </a:p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Arithmetic mean across active healthy replicas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E5D53-E7CF-474D-AB7D-45B83923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97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0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Measurement contract: 5-second monitoring interval   |   30-second prediction horizon</a:t>
            </a:r>
          </a:p>
        </p:txBody>
      </p:sp>
    </p:spTree>
    <p:extLst>
      <p:ext uri="{BB962C8B-B14F-4D97-AF65-F5344CB8AC3E}">
        <p14:creationId xmlns:p14="http://schemas.microsoft.com/office/powerpoint/2010/main" val="2124015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F4B578-4FBD-4E14-9918-91F46276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EXISTING &amp; PROPOSED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BA4D9-09A5-4D9A-B1FB-90E945F5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90199-4212-43C1-BCA7-83DA9CA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proposed design closes the loop from workload generation to validated model adaptation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CBC5F-EB3B-486F-80C0-C308DB0B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EE792-90B8-49ED-931E-4B2EF06F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REACTIVE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F2CC1-CC07-41F1-A822-0E687631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CF24B-160A-473D-B82D-0B7CBC40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User /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0C229-26FA-43BC-9C14-9373126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30DE6-0D7E-45AB-B978-CDC38ED7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cxnSp>
        <p:nvCxnSpPr>
          <p:cNvPr id="8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62075" y="18478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D5398-346A-4562-B304-550116DE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AA8F0-726A-4173-BC0B-C25A7EEF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Resource monitoring</a:t>
            </a:r>
          </a:p>
        </p:txBody>
      </p:sp>
      <p:cxnSp>
        <p:nvCxnSpPr>
          <p:cNvPr id="85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362075" y="25717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5E94E-7602-4DEA-A34B-C9322BAF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88444-6371-4540-A3EE-455CD0DB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Threshold decision</a:t>
            </a:r>
          </a:p>
        </p:txBody>
      </p:sp>
      <p:cxnSp>
        <p:nvCxnSpPr>
          <p:cNvPr id="88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62075" y="32956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DBB4F-C1A9-4408-B2C1-43FA7708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30D55-14EF-4FA5-BA04-0D22B12B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Scale out / in</a:t>
            </a:r>
          </a:p>
        </p:txBody>
      </p:sp>
      <p:cxnSp>
        <p:nvCxnSpPr>
          <p:cNvPr id="91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362075" y="40195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E4DAD-BFAB-4A83-BBB3-0927FC65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FBDA3C-256D-4165-9747-44A577AE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CONTROL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722EC-E389-406D-A16B-B0C0F877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171BA-C109-4600-87E9-A4EA2DD8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Locust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A5FD3-9651-4FF5-AE59-D44A3E81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E1F41-A9DC-4F4E-8DA3-F658088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load balancer</a:t>
            </a:r>
          </a:p>
        </p:txBody>
      </p:sp>
      <p:cxnSp>
        <p:nvCxnSpPr>
          <p:cNvPr id="98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438650" y="17049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BA1C8-8049-4B8F-BE21-D76315F5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D189D-BCB2-495B-844B-CFC79563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Healthy FastAPI replicas</a:t>
            </a:r>
          </a:p>
        </p:txBody>
      </p:sp>
      <p:cxnSp>
        <p:nvCxnSpPr>
          <p:cNvPr id="101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438650" y="21717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1C5198-E2AD-4F20-8415-0F16ED92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8BCE5-9F83-4794-B386-6652E1B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cxnSp>
        <p:nvCxnSpPr>
          <p:cNvPr id="104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438650" y="2638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533CF3-1C80-4ABC-9726-9853B4AF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AD4CAB-C84C-482B-904C-A3EBE3CC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cxnSp>
        <p:nvCxnSpPr>
          <p:cNvPr id="107" name="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438650" y="31051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242BAE-3328-4FDD-9FE5-E003A866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7225AE-E4EA-4959-8B3A-BF391475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Random Forest prediction</a:t>
            </a:r>
          </a:p>
        </p:txBody>
      </p:sp>
      <p:cxnSp>
        <p:nvCxnSpPr>
          <p:cNvPr id="110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438650" y="35718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0B7500-5138-4EBB-BCB8-1570B0DF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0672C0-70B7-43E2-960C-3A21A12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Scaling policy</a:t>
            </a:r>
          </a:p>
        </p:txBody>
      </p:sp>
      <p:cxnSp>
        <p:nvCxnSpPr>
          <p:cNvPr id="113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438650" y="40386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AD38D0-09E3-4C41-82AB-385A766A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79961B-937C-413C-BD60-E2179E8D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replica management</a:t>
            </a:r>
          </a:p>
        </p:txBody>
      </p:sp>
      <p:cxnSp>
        <p:nvCxnSpPr>
          <p:cNvPr id="116" name=""/>
          <p:cNvCxnSpPr>
            <a:stCxn xmlns:a="http://schemas.openxmlformats.org/drawingml/2006/main" id="39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4438650" y="45053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3779C5-E970-4B22-B499-A91599A9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A6B9AC-27C2-4717-85F4-C13FA575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membership update</a:t>
            </a:r>
          </a:p>
        </p:txBody>
      </p:sp>
      <p:cxnSp>
        <p:nvCxnSpPr>
          <p:cNvPr id="119" name=""/>
          <p:cNvCxnSpPr>
            <a:stCxn xmlns:a="http://schemas.openxmlformats.org/drawingml/2006/main" id="4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4438650" y="49720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03E6DE-5450-4016-90C5-9974D254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D38F52-1F19-46E3-AB01-8883C499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React dashboard  ↔  Backend APIs</a:t>
            </a:r>
          </a:p>
        </p:txBody>
      </p:sp>
      <p:cxnSp>
        <p:nvCxnSpPr>
          <p:cNvPr id="122" name=""/>
          <p:cNvCxnSpPr>
            <a:stCxn xmlns:a="http://schemas.openxmlformats.org/drawingml/2006/main" id="30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2724150" y="2943225"/>
            <a:ext cx="3429000" cy="3067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451B58-A9A5-4641-B5E0-895D7DB0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83B149-08DC-4769-82FA-EAE49F7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ERROR-AWARE ADAPTIVE LOOP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C736F5-BCFD-4EAB-9715-2B2F0AD3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048769-5AF9-4FA9-BB76-50CBB29E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Actual CPU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CBF97A-9C39-4D83-A3D8-16D1562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B6B159-747D-4EC5-AD64-E9EEA128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Prediction error</a:t>
            </a:r>
          </a:p>
        </p:txBody>
      </p:sp>
      <p:cxnSp>
        <p:nvCxnSpPr>
          <p:cNvPr id="129" name="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8667750" y="1790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2DE483-B4EF-470A-A3B2-75D57F2E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7473F2-BBE4-4B55-B4BE-B7636B7D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Persistent error detection</a:t>
            </a:r>
          </a:p>
        </p:txBody>
      </p:sp>
      <p:cxnSp>
        <p:nvCxnSpPr>
          <p:cNvPr id="132" name=""/>
          <p:cNvCxnSpPr>
            <a:stCxn xmlns:a="http://schemas.openxmlformats.org/drawingml/2006/main" id="55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8667750" y="2438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93073C-CB69-4D1A-BD7E-FD32C61D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6D22BA-E6E2-48C1-BB26-3D0997E8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Candidate retraining</a:t>
            </a:r>
          </a:p>
        </p:txBody>
      </p:sp>
      <p:cxnSp>
        <p:nvCxnSpPr>
          <p:cNvPr id="135" name=""/>
          <p:cNvCxnSpPr>
            <a:stCxn xmlns:a="http://schemas.openxmlformats.org/drawingml/2006/main" id="58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8667750" y="30861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08BB62-28B0-423B-90BE-EF79E15B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7AA610-263C-4B7A-BE16-3D1CD14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Chronological validation</a:t>
            </a:r>
          </a:p>
        </p:txBody>
      </p:sp>
      <p:cxnSp>
        <p:nvCxnSpPr>
          <p:cNvPr id="138" name=""/>
          <p:cNvCxnSpPr>
            <a:stCxn xmlns:a="http://schemas.openxmlformats.org/drawingml/2006/main" id="61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8667750" y="37338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2BC2A9-E5EF-42BC-97C5-8883258B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4D87A9-D148-4CD3-BF63-D590FDCE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Model activation</a:t>
            </a:r>
          </a:p>
        </p:txBody>
      </p:sp>
      <p:cxnSp>
        <p:nvCxnSpPr>
          <p:cNvPr id="141" name=""/>
          <p:cNvCxnSpPr>
            <a:stCxn xmlns:a="http://schemas.openxmlformats.org/drawingml/2006/main" id="64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8667750" y="4381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36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6153150" y="1590675"/>
            <a:ext cx="1085850" cy="2286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67" idx="2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 flipV="1">
            <a:off x="6153150" y="3876675"/>
            <a:ext cx="251460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3CE578-A1C9-41A2-9398-E18F5699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76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Scale-in safety: remove from Nginx upstream → validate configuration → graceful reload → stop replica</a:t>
            </a:r>
          </a:p>
        </p:txBody>
      </p:sp>
    </p:spTree>
    <p:extLst>
      <p:ext uri="{BB962C8B-B14F-4D97-AF65-F5344CB8AC3E}">
        <p14:creationId xmlns:p14="http://schemas.microsoft.com/office/powerpoint/2010/main" val="167253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024FD-057F-470E-A4C3-E2AB2770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MODULE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3280C-7DEA-477A-8D71-CF813FBD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FFD5D-4A4F-4C44-BD30-CDBC0C36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22DD-FB7F-40C9-B334-1D83A8B1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E248D-D9F1-478F-A6DC-2B89A39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A766C-E72D-4036-B9DF-6780E57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Workload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A1552-FCF6-4D45-9746-5A4EF5E7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Locust scenarios: stable, gradual increase, sudden spike, sudden drop, periodic, and changing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Traffic enters only through Nginx.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076F2-F79B-4421-897A-5904A8A3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1D14C-C504-47D3-A5C8-DA0CA42E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52B84-D497-4B4C-9516-0E2140B3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B3187-CEE4-464B-ADFC-4A7B4081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 &amp; data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D1F6C-0A6E-4197-8E92-835E8EF1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Five-second sampling of labelled healthy replicas.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CPU, memory, request rate, response time, replica count, and timestamps persist in MongoDB.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22712-6B6D-49E1-8965-F49A2C1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ACB31-4F0E-4B77-8DE0-658C7ED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3BAFF-52C4-416B-838F-A2040A16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3726A-208D-42AA-B2A9-1D21C417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ML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303F7-810C-4371-BEA4-C9021BD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Leak-free dataset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Random Forest predicts aggregate CPU 30 seconds ahead. Chronological validation reports MAE and RMSE.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85EE9-7296-441D-A90A-7BC5337E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AEB96-3372-4AA9-A039-002596C4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8F599-1A52-4231-9AA2-E4398FF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CC3C3-BBC4-4200-BB5F-2500CFC2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Autoscaling &amp; adaptation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BCE5B-61A7-4261-9A60-8CB14F43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and predictive decisions use configured thresholds, cooldowns, and replica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Persistent error gates candidate retraining and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5AC1B-E112-4862-B974-B8EDCC75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3D6F4-B415-4B54-89DC-3501870E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CE395-366C-4AA9-8E8D-0F6F2838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2EB35-38B5-4040-A3A6-8425C21B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Dashboard &amp; experimentation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7B2B1-98FC-4583-8A8D-899947DC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 exposes read-only live state and histories.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runner records raw observations and exports CSV/JSON.</a:t>
            </a:r>
          </a:p>
        </p:txBody>
      </p:sp>
    </p:spTree>
    <p:extLst>
      <p:ext uri="{BB962C8B-B14F-4D97-AF65-F5344CB8AC3E}">
        <p14:creationId xmlns:p14="http://schemas.microsoft.com/office/powerpoint/2010/main" val="711304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5B0FDC2-FD33-4ED8-9EFD-AD6E41B9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STATUS SINCE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3D0F7-32E0-48DE-9BB1-1CFC1CB5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E31E7-7019-4A7D-87B0-4A0C58FA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Implemented and 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F6B07-95D4-4B1E-B949-BDC2A7A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715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Current final-stage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7917E-9E69-4D0F-AA40-0186EB2E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11E55-35E6-48BA-A3F4-D809949B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8AD75-3214-40D3-B5D2-B51CC323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195E3-39DA-4554-9783-994C5069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DFBEA-D1BC-400F-8EFB-9B503D30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ADC05-2A5F-4F3B-9E60-473BE7E8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571C0-787D-409E-9403-C0933F35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79583-9927-4C3E-88F6-298B6D95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FastAPI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B3287-9509-4963-A8F0-04EE7376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15DB5-8A5C-4F64-958C-D5ECFB7A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0CBCF-BABD-4070-8DB3-68D72CE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E4D10-BE78-468E-BD63-43DA6404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Docker containerization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261B0-FE31-4D66-B05E-5C37269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76F7F-4269-49FA-BC15-5060344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1D6AF-6E81-4D9C-9F92-8142F49E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99BDB-4D2C-4BC7-9E49-434E7D49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Nginx load balancing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DF19D-6B57-45D0-A140-D7C53A97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A48D3-6F5E-412C-9427-9D29175E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D3A6B-60FC-458D-858A-2674EB1A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0E330F-28ED-4E5D-B273-A323D45C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Dynamic replica membership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1E38C-C612-45C9-B3A5-39C24FE7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17881-2BC0-4142-BF62-32E58D38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39361-0D0E-4878-B319-3F34EB77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4C577-092B-42DC-A516-2B9E581F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Monitoring pipeline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2A0E4-0C3E-4C0B-B3FD-54CB8C6E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340E4-C032-41CD-8434-5DDB7AA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B72818-9A29-4FC7-9397-B1DF798D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BA59B4-329D-4845-93D6-00A0A13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MongoDB integration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C60BCF-AB75-4BE5-B686-1F92246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25EE8A-E410-4FE4-BA22-80C939BD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695AF4-D585-474F-A83F-70A85A4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346ECE-E1E8-4367-8922-81677012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ML prediction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2FE0C2-5F94-42DE-B3C2-39A506EC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550984-42AA-4A96-976C-67630B15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CC68F0-B7C7-4932-ABB9-873E2186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D2B3F6-B4A4-4BBF-ADF9-EFCDD967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scaling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6F6C01-9B88-4E97-8B06-2B156D5C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04A77C-E989-445E-8D41-06DA3367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D9FCA4-461E-48B3-9C2D-60BF416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CC3BDF-E2D8-41B8-89FE-505A18D2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Predictive scaling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5259A5-042A-418D-BDF0-1CA5D09F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0AC941-1A6C-4445-9E75-C158FD42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DB3284-3BAC-4A82-9665-7FD762EB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3D100B-4071-46F7-B207-86A254CE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Adaptive retraining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9B5A3D-4518-4532-BC3D-35314138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730E78-D184-435A-9F94-367399E0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499E20-85B0-4A33-BFF1-DC92CBC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F8A243-58B0-4712-B5EC-98D9765C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F0628F-CA72-4481-B74D-57410AD3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38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8ED6D0-F654-4697-8A3D-53F7BFC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B7A967-0CB9-4EF3-BBC3-CCDBF7B8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C5AAA0-5095-4EE4-85D7-7EA350E0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framework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34E72C-104B-4B0F-BF5B-55853E12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F209F5-DE1D-4BF0-BAF6-93C2410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8EF2E0-4DDA-482F-A7A1-EC8F22A4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040E86-3931-4661-BAB2-31BBA4E0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Evaluation experiments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C08587-5340-4E64-A9EA-14A96AB6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9DDE20-A4BA-4532-9591-7713A29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7620">
            <a:solidFill>
              <a:srgbClr val="F4B18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CB42B0-6011-41ED-97CD-4A352BA0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370CF1-B903-4DC7-8236-C44D6772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F36606-8B0C-45C5-A2A3-D31E9A02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19488F-B1AD-481A-9F27-BDBC977F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525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DBC8AA-D6CD-44A7-BB1F-CB61692E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49ED92-8D93-4CEA-9A73-8584EBE2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F0F69F-ADD3-4D44-A499-FFE2D1E5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and documentation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9AB606-4C65-4D13-B6AB-05AB7A50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B5FA0D-59BA-4ECA-BA0C-557E55A6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0E8D1C-7547-4690-A19D-1140CEF3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72F021-E0E4-4B8E-9E6D-22850E36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A53ECE-C975-4B7C-888C-B20256FA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F09D4A-4421-4B98-B857-3DFAF125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C4978A-F080-4A36-9200-9BA61EA0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CBAD47-B022-4DE1-864A-8F354ECA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3DC118-D502-43F0-A4F4-B71439BF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956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63EDBC-CEED-4ED3-BC63-43BDF77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D647413-B689-44D9-8D72-5D6C9364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BCC6946-6191-43C5-8584-4E272D33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92D7EE8-AA58-4B2A-A5C2-75FD703C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766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B5C9690-3B30-407D-ACAC-A6FAB9AA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D10137-59E4-4E75-BCAA-32740EA2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F0AE40D-689C-426F-AD33-E11D0969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A5408E8-B296-4D54-BB84-2A3374F2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2B5991E-1904-4E75-8FE0-4F2ECF9D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prototype, data pipeline, policies, dashboard, and fixed evaluation matrix are complete. The remaining work prepares the final analysis, documentation,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638242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F9E36-A9B8-4054-828A-6BC6CEC4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CB2CC-AB7A-4F77-912B-1D542B1F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F7323-59CC-4621-914F-45E590D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local evidence captured from the running project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B3469-BEED-4987-8874-54AAFCA6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7048500" cy="414337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9c55d1f534041"/>
          <a:srcRect xmlns:a="http://schemas.openxmlformats.org/drawingml/2006/main" l="0" t="12488" r="0" b="12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71575"/>
            <a:ext cx="6838950" cy="3848100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B12B1-8756-434A-B40D-A74E297F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57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control-loop dashboard: observed status, CPU, predictions, model version, and validation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CF759-945D-476C-A55A-8F44B84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66800"/>
            <a:ext cx="385762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C1A53-9BFE-4851-86AA-169E69E0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Compose service status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020050" y="1562100"/>
          <a:ext xmlns:a="http://schemas.openxmlformats.org/drawingml/2006/main" cx="333375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</a:tblGrid>
              <a:tr h="171450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Application replica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MongoDB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Backend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Frontend dashboard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53FFA-6D6E-4317-B450-02CB6552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3857625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B5B51-AB8F-4111-AE38-47D216A6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14CBF-CA74-4269-86DC-A80FA437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3190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FastAPI application replicas expose /health and /work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Nginx routes traffic only to healthy labelled replicas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Backend records observations and read-only APIs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React dashboard polls the API every five seconds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Repository is organised into app, backend, nginx, load-tests, config, docs,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3534F-CBEE-4491-BB7A-C5C1B28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No pre-existing Locust or terminal screenshots were stored in the repository. This slide therefore uses the verified live dashboard and live Compose service state rather than stock or recreated images.</a:t>
            </a:r>
          </a:p>
        </p:txBody>
      </p:sp>
    </p:spTree>
    <p:extLst>
      <p:ext uri="{BB962C8B-B14F-4D97-AF65-F5344CB8AC3E}">
        <p14:creationId xmlns:p14="http://schemas.microsoft.com/office/powerpoint/2010/main" val="614286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7E8AC-85D5-402A-BDE1-6484AB9C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PRELIMINARY RESULTS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72462-A3DE-4E26-9E7E-328E22FB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5ECC6-9612-4E25-A499-377283D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Recorded final evaluation matrix: 15 valid policy–workload trials; fixed traces did not trigger scaling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9575" y="1095375"/>
          <a:ext xmlns:a="http://schemas.openxmlformats.org/drawingml/2006/main" cx="6286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f6aa38d652436a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6962775" y="1095375"/>
          <a:ext xmlns:a="http://schemas.openxmlformats.org/drawingml/2006/main" cx="4686300" cy="1952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1050"/>
                <a:gridCol w="781050"/>
                <a:gridCol w="781050"/>
                <a:gridCol w="781050"/>
                <a:gridCol w="781050"/>
                <a:gridCol w="781050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Trials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Response-time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events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Adaptation attempts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7.919–15.531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116.073–175.784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Predictive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7.147–15.933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115.709–118.278 ms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predictive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11.073–16.161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114.434–117.595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89B53-7E57-484C-9355-59AA2A37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38500"/>
            <a:ext cx="4686300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96836360040bd"/>
          <a:srcRect xmlns:a="http://schemas.openxmlformats.org/drawingml/2006/main" l="0" t="20847" r="0" b="20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58025" y="3333750"/>
            <a:ext cx="4495800" cy="16383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B7D33-6B5B-4C8D-AFD8-FAA8B8B8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dashboard view of observed metrics and prediction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F84FF-A028-4D6E-AA5A-4913557A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628650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3BD4A-6EFA-4DE1-B18C-8F7DA45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Reporting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3C1DC-8220-4207-A3B6-0DDD2DB9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5810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All chart and table values come from results/final-evaluation-valid-matrix.csv and .json. The 15 fixed evaluation traces recorded zero scaling events. Separate controlled validation verified scaling and adaptive candidate handling. No performance improvement is claimed from this matrix.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68644-7D5A-4DA0-BA18-EF4CE660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Model version recorded for every final-matrix trial: rf-20260917180253-f01e3afc</a:t>
            </a:r>
          </a:p>
        </p:txBody>
      </p:sp>
    </p:spTree>
    <p:extLst>
      <p:ext uri="{BB962C8B-B14F-4D97-AF65-F5344CB8AC3E}">
        <p14:creationId xmlns:p14="http://schemas.microsoft.com/office/powerpoint/2010/main" val="926564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61C50-96A9-4814-8140-DB2AE5E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HURDLES &amp; MITIGATION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0360A-EF37-437D-9208-98A95BEB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9575" y="11239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95625"/>
                <a:gridCol w="8143875"/>
              </a:tblGrid>
              <a:tr h="61232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Hurdle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Docker / WSL environment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Used a reproducible Docker Compose environment and project-scoped labels to keep application control separate from unrelated containers.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Dynamic Nginx replica management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 discovers only healthy labelled replicas, generates an upstream, validates Nginx, then reloads gracefully.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Prediction and target-time alignment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Locked the 30-second horizon and five-second sampling interval; dataset and feedback use chronological target matching.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Persistent prediction errors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service requires threshold breaches across consecutive evaluated predictions before candidate retraining.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Candidate model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Candidate model must pass chronological validation before activation; rejected and superseded versions remain recorded.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Windows command-length limitation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Experiment recorder accepts encoded input through standard input, avoiding oversized command-line payloads.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B83F7-F514-4E19-B293-1C9768DB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62625"/>
            <a:ext cx="112395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367C3-65B4-4BA9-90DE-2853973A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1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All mitigations describe implemented behaviour or recorded integration issues. They do not claim production-cloud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1346523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59CC2C-4CDC-4D46-B38F-0DEA13E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WORK &amp;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7D0BB-5227-4AB6-842E-0DE5C85D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133A4-6E58-4826-A3FE-632A387B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Remaining delivery work and possible technical extensions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59EFB-8DEA-4328-8D4A-DAE614CA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C92F0-5E3D-4333-BD3E-1838C382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DELIVERY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1FD41-15FF-435A-8CD1-0AAEE3EF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57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2A852-B5DB-44A1-B75A-8206CBAF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/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BDB43-ED49-44CF-94BD-90FFADB5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C0DDC-4C89-41C0-999D-35AB7A45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20DA9-0D74-4BDC-B6F8-4EF5A303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3922C-20AD-4E65-9FE5-7799EDF4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43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4E7B8-4F99-4CC9-894F-51246860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7860F-91C0-4E4B-8157-421563B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CB6A8-A136-404F-9B53-87426BD1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409D6-57E2-41A4-B5AE-06FF4EA9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F6B13-3781-4D3B-8BBD-C6B7043A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C02A9-DC0F-4BDE-914A-BB2C523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F0BE6-F1B0-42EB-BB60-112AFCB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608DE-EDD4-4C8A-88C6-181EB6B0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288E4-2633-4C11-993B-7B8DCA6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A5C25-C29A-48E6-861E-D7D642B3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B5051-8B4B-4CAC-B149-643B7256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7F2A4-FDD2-46B2-9FF7-6FE5BD52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B001A-7889-4AD3-841D-54BB97D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668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76650C-09B1-42C7-97F4-7A54E44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240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8AEE1-E9F3-4125-83DE-2ABBC10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CBB6B8-58B0-4302-B2F0-045A5A17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7E087-C768-4421-97C0-BA96BFBD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19FFAB-C214-4860-9B0E-88A47C24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528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481440-65D9-40FD-8FAD-DC5F7DFA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F5E18-CDC3-4554-91D3-6B9ADC1A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TECHNICAL EXTENSIONS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91A949-A4BE-498B-ADA4-7CD41DCD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3D2AC-0D72-4E2A-8C6E-A0445BD7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Integrate Locust controls into the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10B23-B80A-4698-8452-8C3C595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56FDCA-71DD-4D77-8A7A-CFD0FAC6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longer and higher-intensity workload experiments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55D7ED-19E0-4FE3-B41C-6985A0ED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2B5177-2EB9-45EE-A99A-6EB31A27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additional prediction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BD9F27-5DD4-43D0-BB03-B5007AFD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3AD8D2-1D1C-42E7-A6A6-DC2DE4ED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Improve dashboard visualisation and experiment controls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9DCFB6-AC7F-4C8C-8961-F77AE7BE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0ADC6-D9BF-4C9B-8525-67884F0E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Explore cloud or Kubernetes deployment as future 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8BB1BB-C60C-475F-BF48-8B389A1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4810125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4A3387-C4B5-427A-B099-5DDD5583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Timeline interpretation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5B5F2-0173-43CB-ADB2-A1BA585A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timeline sequences final analysis, documentation, demonstration, presentation, viva preparation, and final validation. Week labels are planning markers, not completed milestones.</a:t>
            </a:r>
          </a:p>
        </p:txBody>
      </p:sp>
    </p:spTree>
    <p:extLst>
      <p:ext uri="{BB962C8B-B14F-4D97-AF65-F5344CB8AC3E}">
        <p14:creationId xmlns:p14="http://schemas.microsoft.com/office/powerpoint/2010/main" val="3255690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2026-09-23T09:55:01.5090000Z</dcterms:created>
  <dcterms:modified xsi:type="dcterms:W3CDTF">2026-09-23T09:55:01.5090000Z</dcterms:modified>
</coreProperties>
</file>