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d3571cce624b5e" /><Relationship Type="http://schemas.openxmlformats.org/officeDocument/2006/relationships/extended-properties" Target="/docProps/app.xml" Id="R466ff796e37540ba" /><Relationship Type="http://schemas.openxmlformats.org/officeDocument/2006/relationships/officeDocument" Target="/ppt/presentation.xml" Id="R3a5f8f819ad04b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610785976e4c56"/>
  </p:sldMasterIdLst>
  <p:notesMasterIdLst>
    <p:notesMasterId xmlns:r="http://schemas.openxmlformats.org/officeDocument/2006/relationships" r:id="R2bf2de6303d04595"/>
  </p:notesMasterIdLst>
  <p:sldIdLst>
    <p:sldId xmlns:r="http://schemas.openxmlformats.org/officeDocument/2006/relationships" id="256" r:id="Rdaa72a0b6cb44f5a"/>
    <p:sldId xmlns:r="http://schemas.openxmlformats.org/officeDocument/2006/relationships" id="257" r:id="Rf1894a876fe14f11"/>
    <p:sldId xmlns:r="http://schemas.openxmlformats.org/officeDocument/2006/relationships" id="258" r:id="R38461c2dcfbc4559"/>
    <p:sldId xmlns:r="http://schemas.openxmlformats.org/officeDocument/2006/relationships" id="259" r:id="R1b118e3b29554896"/>
    <p:sldId xmlns:r="http://schemas.openxmlformats.org/officeDocument/2006/relationships" id="260" r:id="R2ca6f4b3151a4499"/>
    <p:sldId xmlns:r="http://schemas.openxmlformats.org/officeDocument/2006/relationships" id="261" r:id="R2b13ca8fc5994572"/>
    <p:sldId xmlns:r="http://schemas.openxmlformats.org/officeDocument/2006/relationships" id="262" r:id="R9687427f75bb49d0"/>
    <p:sldId xmlns:r="http://schemas.openxmlformats.org/officeDocument/2006/relationships" id="263" r:id="R9f54b5f875cd41e8"/>
    <p:sldId xmlns:r="http://schemas.openxmlformats.org/officeDocument/2006/relationships" id="264" r:id="Rba7fc78728384b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5a6cd7988f4916" /><Relationship Type="http://schemas.openxmlformats.org/officeDocument/2006/relationships/slideMaster" Target="/ppt/slideMasters/slideMaster1.xml" Id="Rd8610785976e4c56" /><Relationship Type="http://schemas.openxmlformats.org/officeDocument/2006/relationships/notesMaster" Target="/ppt/notesMasters/notesMaster1.xml" Id="R2bf2de6303d04595" /><Relationship Type="http://schemas.openxmlformats.org/officeDocument/2006/relationships/presProps" Target="/ppt/presProps.xml" Id="R5a180160f61a4819" /><Relationship Type="http://schemas.openxmlformats.org/officeDocument/2006/relationships/viewProps" Target="/ppt/viewProps.xml" Id="R0568ab5450744dcd" /><Relationship Type="http://schemas.openxmlformats.org/officeDocument/2006/relationships/tableStyles" Target="/ppt/tableStyles.xml" Id="R9ade7bda43f84d69" /><Relationship Type="http://schemas.openxmlformats.org/officeDocument/2006/relationships/slide" Target="/ppt/slides/slide1.xml" Id="Rdaa72a0b6cb44f5a" /><Relationship Type="http://schemas.openxmlformats.org/officeDocument/2006/relationships/slide" Target="/ppt/slides/slide2.xml" Id="Rf1894a876fe14f11" /><Relationship Type="http://schemas.openxmlformats.org/officeDocument/2006/relationships/slide" Target="/ppt/slides/slide3.xml" Id="R38461c2dcfbc4559" /><Relationship Type="http://schemas.openxmlformats.org/officeDocument/2006/relationships/slide" Target="/ppt/slides/slide4.xml" Id="R1b118e3b29554896" /><Relationship Type="http://schemas.openxmlformats.org/officeDocument/2006/relationships/slide" Target="/ppt/slides/slide5.xml" Id="R2ca6f4b3151a4499" /><Relationship Type="http://schemas.openxmlformats.org/officeDocument/2006/relationships/slide" Target="/ppt/slides/slide6.xml" Id="R2b13ca8fc5994572" /><Relationship Type="http://schemas.openxmlformats.org/officeDocument/2006/relationships/slide" Target="/ppt/slides/slide7.xml" Id="R9687427f75bb49d0" /><Relationship Type="http://schemas.openxmlformats.org/officeDocument/2006/relationships/slide" Target="/ppt/slides/slide8.xml" Id="R9f54b5f875cd41e8" /><Relationship Type="http://schemas.openxmlformats.org/officeDocument/2006/relationships/slide" Target="/ppt/slides/slide9.xml" Id="Rba7fc78728384b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75c568303543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acf4d85dc64606" /><Relationship Type="http://schemas.openxmlformats.org/officeDocument/2006/relationships/notesMaster" Target="/ppt/notesMasters/notesMaster1.xml" Id="R7d2b989cf59c4d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b470b7e5204dc9" /><Relationship Type="http://schemas.openxmlformats.org/officeDocument/2006/relationships/notesMaster" Target="/ppt/notesMasters/notesMaster1.xml" Id="Rf442907003ea43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0c568bff3f4567" /><Relationship Type="http://schemas.openxmlformats.org/officeDocument/2006/relationships/notesMaster" Target="/ppt/notesMasters/notesMaster1.xml" Id="R7dd4175f171b4d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a454e7311a495a" /><Relationship Type="http://schemas.openxmlformats.org/officeDocument/2006/relationships/notesMaster" Target="/ppt/notesMasters/notesMaster1.xml" Id="R420f3880be7940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9eff8f04a24c66" /><Relationship Type="http://schemas.openxmlformats.org/officeDocument/2006/relationships/notesMaster" Target="/ppt/notesMasters/notesMaster1.xml" Id="Raf130ca536f24a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9baf29c2344120" /><Relationship Type="http://schemas.openxmlformats.org/officeDocument/2006/relationships/notesMaster" Target="/ppt/notesMasters/notesMaster1.xml" Id="R3acb4b9b89c241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3cf6d5bcd848ed" /><Relationship Type="http://schemas.openxmlformats.org/officeDocument/2006/relationships/notesMaster" Target="/ppt/notesMasters/notesMaster1.xml" Id="Rb9df40efac9943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dff0154c854598" /><Relationship Type="http://schemas.openxmlformats.org/officeDocument/2006/relationships/notesMaster" Target="/ppt/notesMasters/notesMaster1.xml" Id="R7312550b87474f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ea46ee5cca4b94" /><Relationship Type="http://schemas.openxmlformats.org/officeDocument/2006/relationships/notesMaster" Target="/ppt/notesMasters/notesMaster1.xml" Id="R1fa8531667d940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results/final-evaluation-valid-matrix.csv and results/final-evaluation-valid-matrix.json. Values are recorded observations; no comparative inference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20dc8c73642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b2fa68cae47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d87ffced740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20f2ac1b4041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4e8ed930f4b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f62f32d4248f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c3db97487400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5bfc374214d1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7959c032e048b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d56e516b54cc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41ca63337460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8B08FF-0B7B-9B07-1AA6-9D28B36DD51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0BF5BC3-D249-4838-EB83-7485FEB9E5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00FAB7-89A5-245E-BE40-B77C7C929B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E65FEF-444C-39E0-2714-99EE538943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94A803-880E-B906-ED8D-8C866B65B4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1734DF-9A22-CC05-F734-A09444B7BC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CAE12D-94A6-67EA-3AB5-C1CBC91098D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8FF387-3DDE-F673-5A93-E3E36D8363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0D830B-A6CA-1E9A-ECF8-3A62A9FA8C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7641A8-FEAA-80C9-3D45-CFFC63A447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041F70-FA77-5EB5-C0ED-4EDFF84EC1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A01C6C2-609F-973A-64EA-A118EFBD69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9711A4-CD4E-5F83-F4B3-71B03A0F82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EE6B92-8BB8-EEF7-1E0A-5D8E24471A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AF8F9C-F684-3038-BC5E-F78F32B2F1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240795-04CF-D6DF-2814-45273C1CF2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E950572-7AE6-FCD1-7248-4E54358B68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C36BB1B-5601-BD96-7EC8-75A1C4BA150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77F9A7D-893F-894C-A94B-E58A0D266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B07C37D-207A-7B44-04BF-8DBDB70D2C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0035840-6CCC-F4E4-0358-1985A5AFF4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6D99FB-22F7-2E4B-BBFD-ECC7D0565A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691B17-238F-CC3A-F8EA-1FC1581E9C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C92CCA-2F8F-3D4A-1F5C-F9E234D06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68B9F84-DCA3-4153-0AD9-0C5DE2EC5C5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351DD40-EA2E-15D6-94E9-9E5C6D37ADB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9834E9A-9E95-2570-1266-A36DD1C30B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C6C9C01-EEE1-7A8E-065A-AD459CBF74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68DFE3A-1FDD-D9F2-92C2-1F892B185D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61157B-E6B9-4F5A-F52C-52178B727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579FAB1-39E6-6F65-34CB-0360B12736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BE12599-830A-9850-F66B-87450ADEA5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2A2461C-AD66-2FFE-8FF4-6F2C3E7B08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822BC82-27FA-5D9B-5AB1-37512F404A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2DEDB66-AF3F-339D-309D-8A0CC49057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4725CF8-2F11-61BE-E1C3-34021FCDA4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438F1E-9446-C2BC-C73B-6A08D1E27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EC3A11-86B4-72B5-8E52-2F034C08091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2FD0CA3-D7C6-FFEB-7649-8E463B4722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0C7DAFC-9A47-AB4C-CBA0-8C56DA612E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C1289E-3148-CE92-C759-B39EA4BB6D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AC249BE-9A53-5DC9-68EA-17A3384719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D3EAF8-34BC-7635-5824-48651A6B88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738FD32-E0CB-5924-E7DD-556CD59F9A0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4E61DA1-9B0D-3A34-00CE-8EEFC859B1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AF23A86-3D57-B2C6-086D-2E1225A43D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A658CF4-2A4F-0403-0563-7B7072EC51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777934-192C-5CFF-854D-6927D0D9F6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D5DCF4-56FE-FB8C-D17F-D5A82443E7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CDF659-2E87-08A8-053C-9ACC4BE7AB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8CB92B-5C35-671A-CCE7-97EE6F6B67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DAB156-CC75-A50B-5E24-509704E791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78814C-B816-967E-995E-59C14488E3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94DAA91-27B5-06D5-1C42-ED8ACC595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A3B551-DB6B-7308-F070-6C94E8C307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BA29B1-3325-4C7F-492E-AA3D333DA5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6CAB23-8CF9-7C5B-798B-CBD7B3CCC8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B1DA3D-2DEA-C323-C195-CC700D5BF6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b509d7610c4a6a" /><Relationship Type="http://schemas.openxmlformats.org/officeDocument/2006/relationships/slideLayout" Target="/ppt/slideLayouts/slideLayout1.xml" Id="Rf6cfe02f7b3442d7" /><Relationship Type="http://schemas.openxmlformats.org/officeDocument/2006/relationships/slideLayout" Target="/ppt/slideLayouts/slideLayout2.xml" Id="Rcfa274b30d164f60" /><Relationship Type="http://schemas.openxmlformats.org/officeDocument/2006/relationships/slideLayout" Target="/ppt/slideLayouts/slideLayout3.xml" Id="Rf9d24be94aa2479c" /><Relationship Type="http://schemas.openxmlformats.org/officeDocument/2006/relationships/slideLayout" Target="/ppt/slideLayouts/slideLayout4.xml" Id="R1a85d5a6adfb4c2e" /><Relationship Type="http://schemas.openxmlformats.org/officeDocument/2006/relationships/slideLayout" Target="/ppt/slideLayouts/slideLayout5.xml" Id="R0655e19351c742ae" /><Relationship Type="http://schemas.openxmlformats.org/officeDocument/2006/relationships/slideLayout" Target="/ppt/slideLayouts/slideLayout6.xml" Id="R94a7d54ed6734dcd" /><Relationship Type="http://schemas.openxmlformats.org/officeDocument/2006/relationships/slideLayout" Target="/ppt/slideLayouts/slideLayout7.xml" Id="Rc2ea4fddbd78461c" /><Relationship Type="http://schemas.openxmlformats.org/officeDocument/2006/relationships/slideLayout" Target="/ppt/slideLayouts/slideLayout8.xml" Id="Reac046557d3b42b7" /><Relationship Type="http://schemas.openxmlformats.org/officeDocument/2006/relationships/slideLayout" Target="/ppt/slideLayouts/slideLayout9.xml" Id="R1f8d9828a444422e" /><Relationship Type="http://schemas.openxmlformats.org/officeDocument/2006/relationships/slideLayout" Target="/ppt/slideLayouts/slideLayout10.xml" Id="R18e4b90244b7404d" /><Relationship Type="http://schemas.openxmlformats.org/officeDocument/2006/relationships/slideLayout" Target="/ppt/slideLayouts/slideLayout11.xml" Id="R81b9b7276941459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C9C33FA-A4B9-C63C-0061-226641DC99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D083632-EF3B-451A-D80B-3ECE844ED3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685655-65AC-9BC6-EF55-5096D65E9C7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D764CE-7A3C-9BE7-CDCE-CE12A318816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983D2C-3B26-704D-E16D-609F67C02F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cfe02f7b3442d7"/>
    <p:sldLayoutId xmlns:r="http://schemas.openxmlformats.org/officeDocument/2006/relationships" id="2147483650" r:id="Rcfa274b30d164f60"/>
    <p:sldLayoutId xmlns:r="http://schemas.openxmlformats.org/officeDocument/2006/relationships" id="2147483651" r:id="Rf9d24be94aa2479c"/>
    <p:sldLayoutId xmlns:r="http://schemas.openxmlformats.org/officeDocument/2006/relationships" id="2147483652" r:id="R1a85d5a6adfb4c2e"/>
    <p:sldLayoutId xmlns:r="http://schemas.openxmlformats.org/officeDocument/2006/relationships" id="2147483653" r:id="R0655e19351c742ae"/>
    <p:sldLayoutId xmlns:r="http://schemas.openxmlformats.org/officeDocument/2006/relationships" id="2147483654" r:id="R94a7d54ed6734dcd"/>
    <p:sldLayoutId xmlns:r="http://schemas.openxmlformats.org/officeDocument/2006/relationships" id="2147483655" r:id="Rc2ea4fddbd78461c"/>
    <p:sldLayoutId xmlns:r="http://schemas.openxmlformats.org/officeDocument/2006/relationships" id="2147483656" r:id="Reac046557d3b42b7"/>
    <p:sldLayoutId xmlns:r="http://schemas.openxmlformats.org/officeDocument/2006/relationships" id="2147483657" r:id="R1f8d9828a444422e"/>
    <p:sldLayoutId xmlns:r="http://schemas.openxmlformats.org/officeDocument/2006/relationships" id="2147483658" r:id="R18e4b90244b7404d"/>
    <p:sldLayoutId xmlns:r="http://schemas.openxmlformats.org/officeDocument/2006/relationships" id="2147483659" r:id="R81b9b7276941459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a3b1157874402" /><Relationship Type="http://schemas.openxmlformats.org/officeDocument/2006/relationships/image" Target="/ppt/media/image.jpeg" Id="R99be8781000e4af9" /><Relationship Type="http://schemas.openxmlformats.org/officeDocument/2006/relationships/notesSlide" Target="/ppt/notesSlides/notesSlide1.xml" Id="Rb93ac1d971be42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f94fe32ad43e3" /><Relationship Type="http://schemas.openxmlformats.org/officeDocument/2006/relationships/notesSlide" Target="/ppt/notesSlides/notesSlide2.xml" Id="Rd1683aa5941440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01fa1655a480d" /><Relationship Type="http://schemas.openxmlformats.org/officeDocument/2006/relationships/notesSlide" Target="/ppt/notesSlides/notesSlide3.xml" Id="R05dde0da4c2a42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2633ec7c24f05" /><Relationship Type="http://schemas.openxmlformats.org/officeDocument/2006/relationships/notesSlide" Target="/ppt/notesSlides/notesSlide4.xml" Id="Rd6b1cb2c52ee42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b993b25f5487e" /><Relationship Type="http://schemas.openxmlformats.org/officeDocument/2006/relationships/notesSlide" Target="/ppt/notesSlides/notesSlide5.xml" Id="Rc4e30cf00b454c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33665e8934594" /><Relationship Type="http://schemas.openxmlformats.org/officeDocument/2006/relationships/image" Target="/ppt/media/image.png" Id="Ra51297de9bf8410e" /><Relationship Type="http://schemas.openxmlformats.org/officeDocument/2006/relationships/notesSlide" Target="/ppt/notesSlides/notesSlide6.xml" Id="Rece549a3a4d140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56415967841b6" /><Relationship Type="http://schemas.openxmlformats.org/officeDocument/2006/relationships/chart" Target="/ppt/slides/charts/chart1.xml" Id="R45004d89a00e4e68" /><Relationship Type="http://schemas.openxmlformats.org/officeDocument/2006/relationships/image" Target="/ppt/media/image2.png" Id="R33fc4b119591497a" /><Relationship Type="http://schemas.openxmlformats.org/officeDocument/2006/relationships/notesSlide" Target="/ppt/notesSlides/notesSlide7.xml" Id="Rf81699a1b5f746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cd0c192bc4c0c" /><Relationship Type="http://schemas.openxmlformats.org/officeDocument/2006/relationships/notesSlide" Target="/ppt/notesSlides/notesSlide8.xml" Id="R99fedbb5f17540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767af38bc49a9" /><Relationship Type="http://schemas.openxmlformats.org/officeDocument/2006/relationships/notesSlide" Target="/ppt/notesSlides/notesSlide9.xml" Id="Rd57e3dd8ec7940f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Reactive</c:v>
          </c:tx>
          <c:spPr>
            <a:solidFill xmlns:a="http://schemas.openxmlformats.org/drawingml/2006/main">
              <a:srgbClr val="2F75B5"/>
            </a:solidFill>
          </c:spPr>
          <c:cat>
            <c:strRef>
              <c:f>'Chart Data'!$A$2:$A$6</c:f>
              <c:strCache>
                <c:ptCount val="5"/>
                <c:pt idx="0">
                  <c:v>Stable</c:v>
                </c:pt>
                <c:pt idx="1">
                  <c:v>Gradual</c:v>
                </c:pt>
                <c:pt idx="2">
                  <c:v>Spike</c:v>
                </c:pt>
                <c:pt idx="3">
                  <c:v>Drop</c:v>
                </c:pt>
                <c:pt idx="4">
                  <c:v>Changing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11.983</c:v>
                </c:pt>
                <c:pt idx="1">
                  <c:v>14.018</c:v>
                </c:pt>
                <c:pt idx="2">
                  <c:v>12.428</c:v>
                </c:pt>
                <c:pt idx="3">
                  <c:v>7.919</c:v>
                </c:pt>
                <c:pt idx="4">
                  <c:v>15.531</c:v>
                </c:pt>
              </c:numCache>
            </c:numRef>
          </c:val>
        </c:ser>
        <c:ser>
          <c:idx val="1"/>
          <c:order val="1"/>
          <c:tx>
            <c:v>Predictive</c:v>
          </c:tx>
          <c:spPr>
            <a:solidFill xmlns:a="http://schemas.openxmlformats.org/drawingml/2006/main">
              <a:srgbClr val="548235"/>
            </a:solidFill>
          </c:spPr>
          <c:cat>
            <c:strRef>
              <c:f>'Chart Data'!$C$2:$C$6</c:f>
              <c:strCache>
                <c:ptCount val="5"/>
                <c:pt idx="0">
                  <c:v>Stable</c:v>
                </c:pt>
                <c:pt idx="1">
                  <c:v>Gradual</c:v>
                </c:pt>
                <c:pt idx="2">
                  <c:v>Spike</c:v>
                </c:pt>
                <c:pt idx="3">
                  <c:v>Drop</c:v>
                </c:pt>
                <c:pt idx="4">
                  <c:v>Changing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15.933</c:v>
                </c:pt>
                <c:pt idx="1">
                  <c:v>12.424</c:v>
                </c:pt>
                <c:pt idx="2">
                  <c:v>7.147</c:v>
                </c:pt>
                <c:pt idx="3">
                  <c:v>12.715</c:v>
                </c:pt>
                <c:pt idx="4">
                  <c:v>9.649</c:v>
                </c:pt>
              </c:numCache>
            </c:numRef>
          </c:val>
        </c:ser>
        <c:ser>
          <c:idx val="2"/>
          <c:order val="2"/>
          <c:tx>
            <c:v>Adaptive predictive</c:v>
          </c:tx>
          <c:spPr>
            <a:solidFill xmlns:a="http://schemas.openxmlformats.org/drawingml/2006/main">
              <a:srgbClr val="8064A2"/>
            </a:solidFill>
          </c:spPr>
          <c:cat>
            <c:strRef>
              <c:f>'Chart Data'!$E$2:$E$6</c:f>
              <c:strCache>
                <c:ptCount val="5"/>
                <c:pt idx="0">
                  <c:v>Stable</c:v>
                </c:pt>
                <c:pt idx="1">
                  <c:v>Gradual</c:v>
                </c:pt>
                <c:pt idx="2">
                  <c:v>Spike</c:v>
                </c:pt>
                <c:pt idx="3">
                  <c:v>Drop</c:v>
                </c:pt>
                <c:pt idx="4">
                  <c:v>Changing</c:v>
                </c:pt>
              </c:strCache>
            </c:strRef>
          </c:cat>
          <c:val>
            <c:numRef>
              <c:f>'Chart Data'!$F$2:$F$6</c:f>
              <c:numCache>
                <c:formatCode>General</c:formatCode>
                <c:ptCount val="5"/>
                <c:pt idx="0">
                  <c:v>16.161</c:v>
                </c:pt>
                <c:pt idx="1">
                  <c:v>14.812</c:v>
                </c:pt>
                <c:pt idx="2">
                  <c:v>11.073</c:v>
                </c:pt>
                <c:pt idx="3">
                  <c:v>12.955</c:v>
                </c:pt>
                <c:pt idx="4">
                  <c:v>11.435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Prediction MAE (CPU percentage points)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CustomShape 1">
            <a:extLst xmlns:a="http://schemas.openxmlformats.org/drawingml/2006/main">
              <a:ext uri="{FF2B5EF4-FFF2-40B4-BE49-F238E27FC236}">
                <a16:creationId xmlns:a16="http://schemas.microsoft.com/office/drawing/2014/main" id="{DF41CA1E-B792-43AB-B84B-D620E1E7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338" y="3637801"/>
            <a:ext cx="7773035" cy="829506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0000" tIns="45000" rIns="90000" bIns="9144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latin typeface="Times New Roman"/>
                <a:ea typeface="Times New Roman"/>
                <a:cs typeface="Times New Roman"/>
              </a:rPr>
              <a:t>ML-BASED CLOUD </a:t>
            </a:r>
            <a:r>
              <a:rPr sz="2400" b="1">
                <a:latin typeface="Times New Roman"/>
                <a:ea typeface="Times New Roman"/>
                <a:cs typeface="Times New Roman"/>
              </a:rPr>
              <a:t>RESOURCE PREDICTION &amp; AUTO-SCALING SYSTEM</a:t>
            </a:r>
            <a:endParaRPr sz="2800"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E51A6C-1A2C-9693-2ED2-0A388F29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648" y="2966772"/>
            <a:ext cx="320040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74320" indent="-273685" algn="ctr">
              <a:spcBef>
                <a:spcPts val="581"/>
              </a:spcBef>
              <a:buNone/>
            </a:pPr>
            <a:r>
              <a:rPr sz="28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BATCH</a:t>
            </a:r>
            <a:r>
              <a:rPr sz="32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A6</a:t>
            </a:r>
            <a:endParaRPr sz="3200" b="1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A92C21-F41C-CB31-65DA-71792B313A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050366" y="1792160"/>
            <a:ext cx="8458200" cy="1088358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latin typeface="Times New Roman"/>
                <a:ea typeface="Times New Roman"/>
                <a:cs typeface="Times New Roman"/>
              </a:rPr>
              <a:t>     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sz="2200" b="1">
                <a:latin typeface="Times New Roman"/>
                <a:ea typeface="Times New Roman"/>
                <a:cs typeface="Times New Roman"/>
              </a:rPr>
              <a:t>ACADEMIC YEAR : 2026 -2027</a:t>
            </a:r>
            <a:br/>
            <a:br/>
            <a:r>
              <a: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  </a:t>
            </a:r>
            <a:r>
              <a:rPr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DOMAIN: CLOUD COMPUTING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845F23-B03F-3F2F-C63D-AE20A24E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43" y="4890982"/>
            <a:ext cx="2447925" cy="99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92880" rIns="0" bIns="0">
            <a:spAutoFit/>
          </a:bodyPr>
          <a:lstStyle xmlns:a="http://schemas.openxmlformats.org/drawingml/2006/main">
            <a:lvl1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12700" algn="just">
              <a:lnSpc>
                <a:spcPct val="150000"/>
              </a:lnSpc>
              <a:spcBef>
                <a:spcPts val="738"/>
              </a:spcBef>
              <a:buClr>
                <a:srgbClr val="000000"/>
              </a:buClr>
              <a:buSzPct val="100000"/>
              <a:buNone/>
            </a:pPr>
            <a:r>
              <a:rPr sz="1300" b="1">
                <a:latin typeface="Times New Roman"/>
                <a:ea typeface="Times New Roman"/>
                <a:cs typeface="Times New Roman"/>
              </a:rPr>
              <a:t>GUIDE NAME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Dr. A. PUNITHA, </a:t>
            </a:r>
            <a:r>
              <a:rPr sz="1300">
                <a:latin typeface="Times New Roman"/>
                <a:ea typeface="Times New Roman"/>
                <a:cs typeface="Times New Roman"/>
              </a:rPr>
              <a:t>Ph.D</a:t>
            </a:r>
            <a:r>
              <a:rPr sz="1300">
                <a:latin typeface="Times New Roman"/>
                <a:ea typeface="Times New Roman"/>
                <a:cs typeface="Times New Roman"/>
              </a:rPr>
              <a:t>,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ASSISTANT PROFESSOR(</a:t>
            </a:r>
            <a:r>
              <a:rPr sz="1300">
                <a:latin typeface="Times New Roman"/>
                <a:ea typeface="Times New Roman"/>
                <a:cs typeface="Times New Roman"/>
              </a:rPr>
              <a:t>Sr.Gr</a:t>
            </a:r>
            <a:r>
              <a:rPr sz="1300">
                <a:latin typeface="Times New Roman"/>
                <a:ea typeface="Times New Roman"/>
                <a:cs typeface="Times New Roman"/>
              </a:rPr>
              <a:t>)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DEPARTMENT OF IT</a:t>
            </a:r>
          </a:p>
        </p:txBody>
      </p:sp>
      <p:sp>
        <p:nvSpPr>
          <p:cNvPr id="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D341926-F6AB-9C8D-4EE9-FFC54D2F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303" y="4628275"/>
            <a:ext cx="2930525" cy="119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92880" rIns="0" bIns="0">
            <a:spAutoFit/>
          </a:bodyPr>
          <a:lstStyle xmlns:a="http://schemas.openxmlformats.org/drawingml/2006/main">
            <a:lvl1pPr marL="12700"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just">
              <a:lnSpc>
                <a:spcPct val="150000"/>
              </a:lnSpc>
              <a:spcBef>
                <a:spcPts val="738"/>
              </a:spcBef>
              <a:buClr>
                <a:srgbClr val="000000"/>
              </a:buClr>
              <a:buSzPct val="100000"/>
              <a:buNone/>
            </a:pPr>
            <a:r>
              <a:rPr sz="1300" b="1">
                <a:latin typeface="Times New Roman"/>
                <a:ea typeface="Times New Roman"/>
                <a:cs typeface="Times New Roman"/>
              </a:rPr>
              <a:t>TEAM MEMBERS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PETER SAMUEL. R [23TH0269]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JOEL RAJKUMAR. W [23TH0237]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NAVAMANI. B [23TH0260]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JAYASURYA. K [23TH0235]</a:t>
            </a:r>
          </a:p>
        </p:txBody>
      </p:sp>
      <p:pic>
        <p:nvPicPr>
          <p:cNvPr id="48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be8781000e4af9"/>
          <a:srcRect xmlns:a="http://schemas.openxmlformats.org/drawingml/2006/main" l="0" t="0" r="0" b="34418"/>
          <a:stretch xmlns:a="http://schemas.openxmlformats.org/drawingml/2006/main"/>
        </p:blipFill>
        <p:spPr>
          <a:xfrm xmlns:a="http://schemas.openxmlformats.org/drawingml/2006/main">
            <a:off x="1812119" y="173245"/>
            <a:ext cx="8753475" cy="15304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27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873419-C6E0-48CE-AA1F-DB6A9D78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OBJECTIVES &amp;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2C73F-9B6C-42F6-8781-EF6C8F4E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9DC31-A4FE-4738-BC98-EE6FD013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90600"/>
            <a:ext cx="1238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E3EFC-5F7C-4660-9879-8343395F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906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85DDF-4D3F-433F-9662-497A66E2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11430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E09DD-C343-4C07-9CC3-DF18B380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ABSTRACT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32D43-A02A-4593-8ED1-C8DC66BE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52550"/>
            <a:ext cx="5381625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AE5D5-6001-4720-BBB9-637DFE5F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77A7E-5595-40AC-A8F1-FC2CFD60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839F4-2F01-40AB-8ECD-E7F27203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2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Monitor resource utilisation and workload for healthy container replicas.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44FA4-0BD2-4FA2-845B-51F2BC22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3E498-386E-4741-A27C-0FEDF6CB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DF93C-8C4C-4D67-8959-1B9D465A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59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Predict future aggregate CPU utilisation with Random Forest regression.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31CC3-E08A-478E-B2F1-499FC69C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04E05-D053-4685-8D42-DA9C410F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0E418-2CA0-4C7E-A661-D4316671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Apply reactive and predictive scaling within configured replica limits.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FFA99-604C-4A65-8596-67D1FDDC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C7A26-E978-459A-AE59-98D0056A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367DF6-4490-4F04-A9E1-83D2AE86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Maintain safe Nginx membership for labelled Docker replicas.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7143B9-D2D5-4917-A0AE-29FC97E8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D21676-A059-4F43-9799-BFF6B650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29C032-3435-4E84-B9E8-29268194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Detect persistent forecast errors and retrain only after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F39719-83ED-4C8E-A875-9B2A5142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D4354A-A5B2-44A9-9776-68DCC2D9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F595CD-15D8-4FA0-A996-004A2010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Evaluate policies under controlled workload patterns.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FB85AC-D8E9-47F8-B307-6F638A64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5362575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C8DE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EBAA07-C34B-4F4B-B56D-88672ACA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66875"/>
            <a:ext cx="4714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This project implements a Docker-based framework for comparing reactive, predictive, and error-aware adaptive predictive autoscaling. Locust sends controlled traffic through Nginx to healthy FastAPI replicas. The monitoring pipeline stores five-second CPU, memory, request-rate, response-time, and replica measurements in MongoDB. A Random Forest regression model predicts aggregate CPU 30 seconds ahead using only information available at the prediction time. The controller records prediction feedback and can retrain a candidate model after persistent errors, subject to chronological validation before activation.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409781-79D4-4CB4-B176-180F7126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714875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723B62-8F97-46CB-B9FC-D0AE7DC6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14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Primary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B4333C-7338-4574-B5BF-36380E78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434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Future aggregate CPU utilisation</a:t>
            </a:r>
          </a:p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Arithmetic mean across active healthy replicas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4022B4-F349-45A1-9C2E-65005065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197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04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Measurement contract: 5-second monitoring interval   |   30-second prediction horizon</a:t>
            </a:r>
          </a:p>
        </p:txBody>
      </p:sp>
    </p:spTree>
    <p:extLst>
      <p:ext uri="{BB962C8B-B14F-4D97-AF65-F5344CB8AC3E}">
        <p14:creationId xmlns:p14="http://schemas.microsoft.com/office/powerpoint/2010/main" val="20916601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8A40D7E-ACE6-4C7E-A483-2C92B801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EXISTING &amp; PROPOSED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7BC21-2482-4994-A331-0F1EADF6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1F0BA-8ABF-49C5-9BD4-62C7B442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The proposed design closes the loop from workload generation to validated model adaptation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7A8F7-B46A-4250-9B18-1B76AD58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69508-6D92-413F-A3A1-98B0DC1D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EXISTING REACTIVE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1EC75-C1C6-4190-A0B1-695A2099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382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2B094-B339-4F0A-BA47-CBD238AD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382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User / workload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0CB9B-69C2-496A-AF5B-1FADF886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621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5B2BC-2D23-4017-8FA1-D60A43BF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621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cxnSp>
        <p:nvCxnSpPr>
          <p:cNvPr id="81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362075" y="18478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11101-F057-4831-9444-1DB149F2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860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50994-FE11-476A-AF88-D7318482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860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Resource monitoring</a:t>
            </a:r>
          </a:p>
        </p:txBody>
      </p:sp>
      <p:cxnSp>
        <p:nvCxnSpPr>
          <p:cNvPr id="84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362075" y="25717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E59AE-851D-4C3D-91B5-ACCE120D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099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FF354-0BBE-4654-8718-EDE4ADA1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099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Threshold decision</a:t>
            </a:r>
          </a:p>
        </p:txBody>
      </p:sp>
      <p:cxnSp>
        <p:nvCxnSpPr>
          <p:cNvPr id="87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362075" y="32956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6CD46-BA8D-43A5-81EC-DDE0851A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338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8873D4-E938-41E2-819E-07123F4D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338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Scale out / in</a:t>
            </a:r>
          </a:p>
        </p:txBody>
      </p:sp>
      <p:cxnSp>
        <p:nvCxnSpPr>
          <p:cNvPr id="90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362075" y="40195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FB9391-178D-42AC-8A0B-FFE114C5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047750"/>
            <a:ext cx="1809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BA4AB4-BD8C-4A61-8FEA-36B273B0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0477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CONTROL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852722-BA5D-4292-9ED1-A63F0957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8112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C11E37-B012-473B-BD97-BC7E9066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81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Locust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0C4395-659F-4BD4-B206-EB07C9A8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4785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ABD7E7-1B74-4ED3-B581-9D0634EF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47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Nginx load balancer</a:t>
            </a:r>
          </a:p>
        </p:txBody>
      </p:sp>
      <p:cxnSp>
        <p:nvCxnSpPr>
          <p:cNvPr id="97" name=""/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4438650" y="17049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6A05A0-2607-4B6F-B720-1448A999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1457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BA325D-B6F1-40DB-A0EF-D93F2CFC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145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Healthy FastAPI replicas</a:t>
            </a:r>
          </a:p>
        </p:txBody>
      </p:sp>
      <p:cxnSp>
        <p:nvCxnSpPr>
          <p:cNvPr id="100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438650" y="21717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9B8E21-D336-4A17-B97B-68E1AADA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33BB49-B8B7-490A-9034-091A4DED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Monitoring</a:t>
            </a:r>
          </a:p>
        </p:txBody>
      </p:sp>
      <p:cxnSp>
        <p:nvCxnSpPr>
          <p:cNvPr id="103" name=""/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4438650" y="26384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D9FDFE-0E51-4A36-BACE-990E1B86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4802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21515C-846C-42F9-8F66-5D7BFFCA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480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cxnSp>
        <p:nvCxnSpPr>
          <p:cNvPr id="106" name=""/>
          <p:cNvCxnSpPr>
            <a:stCxn xmlns:a="http://schemas.openxmlformats.org/drawingml/2006/main" id="30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4438650" y="31051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F75747-46DC-47D9-B45F-25331A03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C31B1B-B9C0-4F54-8F08-E08FB069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Random Forest prediction</a:t>
            </a:r>
          </a:p>
        </p:txBody>
      </p:sp>
      <p:cxnSp>
        <p:nvCxnSpPr>
          <p:cNvPr id="109" name=""/>
          <p:cNvCxnSpPr>
            <a:stCxn xmlns:a="http://schemas.openxmlformats.org/drawingml/2006/main" id="33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4438650" y="35718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6B2828-5995-4DAD-9E54-85489E67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8147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2DDADE-C4F4-4F99-AE8D-EB5D3A86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814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Scaling policy</a:t>
            </a:r>
          </a:p>
        </p:txBody>
      </p:sp>
      <p:cxnSp>
        <p:nvCxnSpPr>
          <p:cNvPr id="112" name=""/>
          <p:cNvCxnSpPr>
            <a:stCxn xmlns:a="http://schemas.openxmlformats.org/drawingml/2006/main" id="36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4438650" y="40386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5D411A-10DA-4349-9F86-AE08F490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4820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3C0396-6344-4277-97B1-E757DBE2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48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Docker replica management</a:t>
            </a:r>
          </a:p>
        </p:txBody>
      </p:sp>
      <p:cxnSp>
        <p:nvCxnSpPr>
          <p:cNvPr id="115" name=""/>
          <p:cNvCxnSpPr>
            <a:stCxn xmlns:a="http://schemas.openxmlformats.org/drawingml/2006/main" id="39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4438650" y="45053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38E492-A67F-4FA7-B001-0E280170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1492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9F5580-5950-4D6B-B198-F41DBAC9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149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Nginx membership update</a:t>
            </a:r>
          </a:p>
        </p:txBody>
      </p:sp>
      <p:cxnSp>
        <p:nvCxnSpPr>
          <p:cNvPr id="118" name=""/>
          <p:cNvCxnSpPr>
            <a:stCxn xmlns:a="http://schemas.openxmlformats.org/drawingml/2006/main" id="42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4438650" y="49720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019CCA-AB0C-4FBC-AABC-7695C512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810250"/>
            <a:ext cx="3429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D98409-032A-4604-8C0C-83E7370B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810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React dashboard  ↔  Backend APIs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90629C-074C-471A-8AE5-EEA55F2B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47750"/>
            <a:ext cx="22860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2CBCA2-ED5D-4A1C-B192-4CE02EBE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47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ERROR-AWARE ADAPTIVE LOOP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79440B-3AFD-4A3B-84EC-353C4856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906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59A607-651B-422E-8B23-A1FE0E6B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90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Actual CPU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85124E-A8A4-48F2-944A-E9355DD6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9F1D77-B1B9-4B60-8631-0A968EB1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Prediction error</a:t>
            </a:r>
          </a:p>
        </p:txBody>
      </p:sp>
      <p:cxnSp>
        <p:nvCxnSpPr>
          <p:cNvPr id="127" name=""/>
          <p:cNvCxnSpPr>
            <a:stCxn xmlns:a="http://schemas.openxmlformats.org/drawingml/2006/main" id="52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8667750" y="17907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88258F-261F-47D1-BA37-31DEC0DF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DD29DF-A66C-4D5E-A606-CC16FEA1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Persistent error detection</a:t>
            </a:r>
          </a:p>
        </p:txBody>
      </p:sp>
      <p:cxnSp>
        <p:nvCxnSpPr>
          <p:cNvPr id="130" name=""/>
          <p:cNvCxnSpPr>
            <a:stCxn xmlns:a="http://schemas.openxmlformats.org/drawingml/2006/main" id="54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8667750" y="24384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CDC0E96-E287-4ED8-BB5F-F1B64D42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2657DE-2C1F-4B45-911D-774C0655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Candidate retraining</a:t>
            </a:r>
          </a:p>
        </p:txBody>
      </p:sp>
      <p:cxnSp>
        <p:nvCxnSpPr>
          <p:cNvPr id="133" name=""/>
          <p:cNvCxnSpPr>
            <a:stCxn xmlns:a="http://schemas.openxmlformats.org/drawingml/2006/main" id="57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8667750" y="30861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B417300-CC8D-40B1-A1EF-FC9BF1A0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7BD876-CB3C-4E44-9828-7963EEA1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Chronological validation</a:t>
            </a:r>
          </a:p>
        </p:txBody>
      </p:sp>
      <p:cxnSp>
        <p:nvCxnSpPr>
          <p:cNvPr id="136" name=""/>
          <p:cNvCxnSpPr>
            <a:stCxn xmlns:a="http://schemas.openxmlformats.org/drawingml/2006/main" id="60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8667750" y="37338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BEE45ED-0203-4CCF-AEBA-466FCB6E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2804490-C2A1-44A6-9303-A663A5B9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Model activation</a:t>
            </a:r>
          </a:p>
        </p:txBody>
      </p:sp>
      <p:cxnSp>
        <p:nvCxnSpPr>
          <p:cNvPr id="139" name=""/>
          <p:cNvCxnSpPr>
            <a:stCxn xmlns:a="http://schemas.openxmlformats.org/drawingml/2006/main" id="63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8667750" y="43815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tailEnd type="triangle" w="sm" len="sm"/>
          </a:ln>
        </p:spPr>
      </p:cxnSp>
      <p:cxnSp>
        <p:nvCxnSpPr>
          <p:cNvPr id="140" name=""/>
          <p:cNvCxnSpPr>
            <a:stCxn xmlns:a="http://schemas.openxmlformats.org/drawingml/2006/main" id="30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 flipV="1">
            <a:off x="6153150" y="1590675"/>
            <a:ext cx="1085850" cy="1352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EB601A1-5FD7-4CA6-ADA8-260C4538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81025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721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Validated candidate version becomes the active predictor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77AF6BC-5660-4A01-A404-27C49240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768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Scale-in safety: remove from Nginx upstream → validate configuration → graceful reload → stop replica</a:t>
            </a:r>
          </a:p>
        </p:txBody>
      </p:sp>
    </p:spTree>
    <p:extLst>
      <p:ext uri="{BB962C8B-B14F-4D97-AF65-F5344CB8AC3E}">
        <p14:creationId xmlns:p14="http://schemas.microsoft.com/office/powerpoint/2010/main" val="814659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95DFE4-C2A1-4D91-8111-0CBC7841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MODULE DESCRIPTION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E0FB9-5945-49CD-89B6-B07A7456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FC17A-CFA4-4FCB-A049-4E7E8205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1778B-B58C-48B0-8EF3-430F9641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1C159-442C-4DA8-9E65-B4787C0A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200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85BD1-052B-467C-AEAD-0BF74F4F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2001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Workload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2F687-830F-4A5D-97F5-B2388D97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85925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Locust scenarios: stable, gradual increase, sudden spike, sudden drop, periodic, and changing workload.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Traffic enters only through Nginx.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D1EFE-88E7-49A6-8753-582DBA03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057275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16BB9-7B80-495B-ABFF-9D811598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3D20B-4020-40E1-A182-50ECB295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200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00A1F-386B-402A-BA46-9FCA904D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2001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Monitoring &amp; data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B7FD5-666B-47E2-886B-505FAC5B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85925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Five-second sampling of labelled healthy replicas.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CPU, memory, request rate, response time, replica count, and timestamps persist in MongoDB.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BBBC3-F548-4383-8478-5748925E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057275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DF529-BC03-40E0-B8F4-B28C6B6D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726D1-5FC4-41A6-8B3F-6F1A4F40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200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47D39-4B42-4934-A453-4FE86AFE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2001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ML prediction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E83ED-DC83-43CD-BA87-025436C1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85925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Leak-free dataset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Random Forest predicts aggregate CPU 30 seconds ahead. Chronological validation reports MAE and RMSE.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D1BC3-4FA0-43DA-8A77-987DFC56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D4E99-EEB7-4A04-A3E3-53D02C3E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90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B55D75-5981-4F6B-8B1A-3A69805E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90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3C9A07-EFBD-4973-81A1-B28A8690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909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Autoscaling &amp; adaptation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F23D2-FED8-4DE5-B89C-E85D445E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Reactive and predictive decisions use configured thresholds, cooldowns, and replica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Persistent error gates candidate retraining and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D5DF7-9F3A-4C92-9E67-EE720AB3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37BF2F-9E4D-47E8-B8EA-13097CFE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90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E767C1-C8C8-49C7-A8F9-F89B6289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90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64433B-6C1A-4F08-B9CB-0E8C70CD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909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Dashboard &amp; experimentation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063339-D894-425D-9C50-6636B7F9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 dashboard exposes read-only live state and histories.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Experiment runner records raw observations and exports CSV/JSON.</a:t>
            </a:r>
          </a:p>
        </p:txBody>
      </p:sp>
    </p:spTree>
    <p:extLst>
      <p:ext uri="{BB962C8B-B14F-4D97-AF65-F5344CB8AC3E}">
        <p14:creationId xmlns:p14="http://schemas.microsoft.com/office/powerpoint/2010/main" val="1100039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856CF7D-638B-403F-B2AB-465A1FB5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STATUS SINCE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4656D-18B4-4498-9004-F7803B83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F9AE1-9CD7-472C-B51B-235A1B31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71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Implemented and verified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0E0FF-5AF3-4E2C-8614-564F1A10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715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Current final-stage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31956-992B-4798-A3A2-3EE25024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5143500" cy="4667250"/>
          </a:xfrm>
          <a:prstGeom xmlns:a="http://schemas.openxmlformats.org/drawingml/2006/main" prst="roundRect">
            <a:avLst>
              <a:gd name="adj" fmla="val 1224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F213F-F46C-42FB-8265-46545B60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591AE-1A07-457E-87A4-434AF7F5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C96D8-3FAB-422A-B6A3-E732002C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76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A3E5F-A8E6-410A-8D11-D4907410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859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B65C9-2185-442D-9940-AA9167DE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89F7F-E367-4738-88E6-81A826F4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E759B-372B-43A6-B8E0-857833B1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FastAPI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AE5B7-ACE2-4048-8990-ADDA247A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8FDE1-D99C-49C0-AF24-65BA1476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D516F-60A7-49C7-AA11-170E36EE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99D30-CEB3-4D04-9BC7-C3228F42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859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Docker containerization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7289A-C0DA-4510-A404-D5D8068D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687A72-2CED-4FE0-8FE3-3FEF0106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8118B-CC73-49ED-8D21-D3A493AF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B2829-3418-416B-8E82-6F2E07C6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Nginx load balancing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9F85D-DF91-4317-8ACA-AF296D73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8C603B-84A0-428C-A498-31BEF8F3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62550-3F69-4B2B-8956-1B7FEB64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9CD806-918F-477F-ACCC-D4A953AC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Dynamic replica membership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CAA1BB-FD19-4006-9575-CF1558D3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D53300-6265-471C-9FD1-226A5A9D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B272CB-B334-437D-A47A-CFDBC188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259657-474B-4AAD-9A7F-934F908C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Monitoring pipeline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D75CC9-2FBF-4E24-9E50-A81EB17B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FC7F05-1B53-4DAB-9146-7DA2C891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F66F0D-676A-42CE-AA97-D81D9BC9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3C4D02-F53A-4794-84FA-DEF2BC2A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MongoDB integration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E33E83-D127-4E5E-8EC3-94A9FCFD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14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9DCA33-999B-4D88-9B7A-888DFA54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2A10F4-7CF7-4CDF-A6D4-B4BB73F5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4159F4-688D-44A0-8315-67F31710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ML prediction model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3E3001-0D84-4012-B858-4800076A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0485B3-FE5C-4496-957D-F73C5714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50DF58-CA4D-4E21-8DF5-03260116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0C1E24-4961-47BF-9447-64CE9E5E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Reactive scaling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377804-61D6-44F1-B647-71A7E0F8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F57897-A434-4FA6-A7BF-5EEB3ADE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ACA6BF-6C17-43FF-A3D3-D06B2333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1DDC7F-4628-4046-9EC6-E7E6D729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95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Predictive scaling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470817-793D-4B18-B568-EE6799E7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B24A65-4337-4186-9CA7-51159C6C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930A42-E877-4964-AC1C-642C855C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7F39EA-16C9-499E-AF3D-AC0C5731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Adaptive retraining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D8292F-FC87-4E31-9001-77A7D3B0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82AC77-15DA-4118-AADB-91BFFFD5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0362C6-9B91-4E3C-BEC4-4C610729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0668F7-2758-4904-B448-A8EDF44A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291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 dashboard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6BAA299-5C12-417A-9EC8-5A882BBC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38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46D2EC-ADEB-4413-8A54-4C1F0AA2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183EC95-B757-4638-AAC0-CD2B86BE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3BB11A-2F61-4D98-A0C8-6C428E5F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Experiment framework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6658AA-5892-4E99-BEB8-B5D9A597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435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9C75AF-D641-4684-A68F-947E3EE4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E4888D-9C63-4214-B850-D9C9CC5B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49DE0B-4E8C-4FF5-BD0E-C4C90B97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387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Evaluation experiments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D14ED5-7D7F-4505-9A42-7D44CA20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48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39F0A8-9914-4800-B6E0-4174457B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5143500" cy="4667250"/>
          </a:xfrm>
          <a:prstGeom xmlns:a="http://schemas.openxmlformats.org/drawingml/2006/main" prst="roundRect">
            <a:avLst>
              <a:gd name="adj" fmla="val 1224"/>
            </a:avLst>
          </a:prstGeom>
          <a:solidFill xmlns:a="http://schemas.openxmlformats.org/drawingml/2006/main">
            <a:srgbClr val="FFFCF5"/>
          </a:solidFill>
          <a:ln xmlns:a="http://schemas.openxmlformats.org/drawingml/2006/main" w="7620">
            <a:solidFill>
              <a:srgbClr val="F4B18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CDF0E5-3CE2-4AC1-B130-F1E2D360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E3A031-64D5-4F51-B7EF-84B07EB1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E93C8BD-EB89-4853-84FF-9EE57700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43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result analysis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782F072-96EC-45AD-BF5B-3FCDCE2C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525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2D1A3FB-E613-46A2-A9EA-DF050C0F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6E2D28-E500-4902-9107-12EF9862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5A72EBD-DCFB-467D-8950-61DB481B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24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report and documentation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D25B67D-B1AF-43D1-9BA3-8A4A3A2C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336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0D622F9-7997-4070-B80A-5A2ABD88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237B86F-F78F-46C7-9756-94A3D893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D05F500-C740-40F8-961F-A8581BF7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Demo refinement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B57579D-EF30-4A41-8743-89B239F3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83E6FA3-4F7D-4387-B1A2-87060534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091F0BD-79EB-488D-9387-3C815F60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80DF101-527D-419C-BECA-0167DC49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86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Presentation preparation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0F82CCA-A0DE-462A-B0D6-B332D267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956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C11A232-F667-4D87-BA53-F8DD86CF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981D688-D7AE-4E66-BC0C-F230BF05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0A65853-98FE-403C-85AD-E8B9E42F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Viva preparation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FD0B8AA-B1F6-46B8-A449-AEE06AF7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766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6289989-0B10-4BB9-B562-8A6EB01A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A62192D-64A9-4EEF-B96B-FABAD111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2E163F6-2236-496C-A060-C507507C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48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validation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2517D3D-6247-4673-9CC8-F66A51E6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577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C9D2B08-3947-472F-8D4E-4D98BCEA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The prototype, data pipeline, policies, dashboard, and fixed evaluation matrix are complete. The remaining work prepares the final analysis, documentation, and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6985156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85334-DE29-4E30-9FA9-92F4009B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CURRENT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B65EA-FF12-41A0-9DE7-382DB094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69783-8694-4262-ACE1-577D9379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Live local evidence captured from the running project 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D7249-6076-4114-94C3-D3CC6BBD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66800"/>
            <a:ext cx="7048500" cy="414337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297de9bf8410e"/>
          <a:srcRect xmlns:a="http://schemas.openxmlformats.org/drawingml/2006/main" l="0" t="12488" r="0" b="124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171575"/>
            <a:ext cx="6838950" cy="3848100"/>
          </a:xfrm>
          <a:prstGeom xmlns:a="http://schemas.openxmlformats.org/drawingml/2006/main" prst="roundRect">
            <a:avLst>
              <a:gd name="adj" fmla="val 148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E048C-C4B6-4E0B-ADAD-67D3C7E9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2578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Live control-loop dashboard: observed status, CPU, predictions, model version, and validation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7DD92-0E64-4AA9-A85E-02909CBD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066800"/>
            <a:ext cx="3857625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5342C-6696-4FEB-90B3-18790D79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Docker Compose service status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8020050" y="1562100"/>
          <a:ext xmlns:a="http://schemas.openxmlformats.org/drawingml/2006/main" cx="3333750" cy="1200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66875"/>
                <a:gridCol w="1666875"/>
              </a:tblGrid>
              <a:tr h="171450"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Service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Application replica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Healthy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MongoDB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Healthy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Backend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Frontend dashboard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Nginx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Membership controller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5115F-FDBD-4F2F-937E-C165B4F3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3857625" cy="1952625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C8DE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20768-C277-4E1C-8FCD-6C0E50A2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Implementation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44909-549A-4638-B496-79253DCB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00475"/>
            <a:ext cx="3190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2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FastAPI application replicas expose /health and /work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Nginx routes traffic only to healthy labelled replicas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Backend records observations and read-only APIs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React dashboard polls the API every five seconds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Repository is organised into app, backend, nginx, load-tests, config, docs,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29389-8FA9-4078-9748-4E6E0D68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No pre-existing Locust or terminal screenshots were stored in the repository. This slide therefore uses the verified live dashboard and live Compose service state rather than stock or recreated images.</a:t>
            </a:r>
          </a:p>
        </p:txBody>
      </p:sp>
    </p:spTree>
    <p:extLst>
      <p:ext uri="{BB962C8B-B14F-4D97-AF65-F5344CB8AC3E}">
        <p14:creationId xmlns:p14="http://schemas.microsoft.com/office/powerpoint/2010/main" val="8482661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65A50-73B0-4D51-9449-6D686520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PRELIMINARY RESULTS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4BE89-3E65-43B9-8F9C-AB1298A5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9A38E-3AEE-4C4B-B1C5-77760407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Recorded final evaluation matrix: 15 valid policy–workload trials; fixed traces did not trigger scaling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09575" y="1095375"/>
          <a:ext xmlns:a="http://schemas.openxmlformats.org/drawingml/2006/main" cx="6286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004d89a00e4e68"/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6962775" y="1095375"/>
          <a:ext xmlns:a="http://schemas.openxmlformats.org/drawingml/2006/main" cx="4686300" cy="1952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81050"/>
                <a:gridCol w="781050"/>
                <a:gridCol w="781050"/>
                <a:gridCol w="781050"/>
                <a:gridCol w="781050"/>
                <a:gridCol w="781050"/>
              </a:tblGrid>
              <a:tr h="488156"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Policy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Trials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 range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Response-time range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events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Adaptation attempts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Reactive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7.919–15.531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116.073–175.784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Predictive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7.147–15.933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115.709–118.278 ms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Adaptive predictive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11.073–16.161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114.434–117.595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74AF5-72B1-4CB1-BFC4-167D4F3D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38500"/>
            <a:ext cx="4686300" cy="1828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c4b119591497a"/>
          <a:srcRect xmlns:a="http://schemas.openxmlformats.org/drawingml/2006/main" l="0" t="20847" r="0" b="208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58025" y="3333750"/>
            <a:ext cx="4495800" cy="1638300"/>
          </a:xfrm>
          <a:prstGeom xmlns:a="http://schemas.openxmlformats.org/drawingml/2006/main" prst="roundRect">
            <a:avLst>
              <a:gd name="adj" fmla="val 34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BDFB7-63E0-4070-B47F-44C867EC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095875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Live dashboard view of observed metrics and prediction feedback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878F2-F84C-48DC-975E-E7F26263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86250"/>
            <a:ext cx="6286500" cy="1438275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6568F-6443-48E2-9B0D-2777A2E6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Reporting note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33723-741B-4FA9-9788-B8F33B58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5810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6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All chart and table values come from results/final-evaluation-valid-matrix.csv and .json. The 15 fixed evaluation traces recorded zero scaling events. Separate controlled validation verified scaling and adaptive candidate handling. No performance improvement is claimed from this matrix.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A13D0-D84A-40A2-AC7F-4B54BC43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0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Model version recorded for every final-matrix trial: rf-20260917180253-f01e3afc</a:t>
            </a:r>
          </a:p>
        </p:txBody>
      </p:sp>
    </p:spTree>
    <p:extLst>
      <p:ext uri="{BB962C8B-B14F-4D97-AF65-F5344CB8AC3E}">
        <p14:creationId xmlns:p14="http://schemas.microsoft.com/office/powerpoint/2010/main" val="2374651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3981B-4D39-41D9-9EF8-5BD37053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HURDLES &amp; MITIGATION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ACE2F-4A59-4679-B648-648A340E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9575" y="1123950"/>
          <a:ext xmlns:a="http://schemas.openxmlformats.org/drawingml/2006/main" cx="11239500" cy="4286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95625"/>
                <a:gridCol w="8143875"/>
              </a:tblGrid>
              <a:tr h="612321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Hurdle</a:t>
                      </a:r>
                    </a:p>
                  </a:txBody>
                  <a:tcPr marL="91440" marR="91440" marT="45720" marB="45720">
                    <a:solidFill>
                      <a:srgbClr val="3857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Mitigation</a:t>
                      </a:r>
                    </a:p>
                  </a:txBody>
                  <a:tcPr marL="91440" marR="91440" marT="45720" marB="45720">
                    <a:solidFill>
                      <a:srgbClr val="385723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Docker / WSL environment 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Used a reproducible Docker Compose environment and project-scoped labels to keep application control separate from unrelated containers.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Dynamic Nginx replica management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Membership controller discovers only healthy labelled replicas, generates an upstream, validates Nginx, then reloads gracefully.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Prediction and target-time alignment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Locked the 30-second horizon and five-second sampling interval; dataset and feedback use chronological target matching.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Persistent prediction errors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Adaptive service requires threshold breaches across consecutive evaluated predictions before candidate retraining.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Candidate model replacement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Candidate model must pass chronological validation before activation; rejected and superseded versions remain recorded.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Windows command-length limitation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Experiment recorder accepts encoded input through standard input, avoiding oversized command-line payloads.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86663-C247-4A0F-8E22-B3DA34D2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762625"/>
            <a:ext cx="11239500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D1A0A-1631-4B14-B3C5-9DDF0740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91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All mitigations describe implemented behaviour or recorded integration issues. They do not claim production-cloud readiness.</a:t>
            </a:r>
          </a:p>
        </p:txBody>
      </p:sp>
    </p:spTree>
    <p:extLst>
      <p:ext uri="{BB962C8B-B14F-4D97-AF65-F5344CB8AC3E}">
        <p14:creationId xmlns:p14="http://schemas.microsoft.com/office/powerpoint/2010/main" val="10678038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D4F51C-3658-4102-880F-66889616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FUTURE WORK &amp;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55AF2-5AD3-4F21-ADD7-8DCFBF49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9CDD8-A2A8-49B4-B653-91F0806D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Remaining delivery work and possible technical extensions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BB7E9-C8F7-4CA2-BD54-A35CE5A1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2000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8D6F5-F326-412A-AFFB-D239F400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REMAINING DELIVERY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0287F-D2DF-430E-9FCB-F25AB2AE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57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result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7990D-548F-45A2-8923-E75798F6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914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report / documentation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31775-D7A1-4801-8A62-8FC28848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717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Demo refinement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B41E7-DEE2-4932-A394-A6D86DDB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289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Presentation preparation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6283F-DD13-49D6-8330-182101D1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286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Viva preparation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9EEE1-71D5-4754-A165-A4FB866A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743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C221D-DEAC-47EA-B872-560232DB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D615B-02A4-45DB-A7AB-37716136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60F2F-4E73-4D0B-B124-4D7DFE0D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8618A-3F52-437A-8E57-EBF9645B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6A549-1C45-495A-AAFC-17237AEB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86F31-3901-4395-A5F8-EA9355F4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2457D-14DD-4B32-91FB-D40757A8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52009B-BFA8-4939-B614-6C7D90CB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3BED0-F9D2-4358-AB12-E153AEB1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F71923-7452-40C0-A6B4-7ABE625A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74384-28C3-479B-97A2-17A631F5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D571C-A654-4DE0-B1B8-D644E484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BBD128-351D-43F7-91E1-38831E43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4668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B08FF6-ABA1-43BE-910C-9A716564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240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952969-1942-4EE6-9B34-2F9D1277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65D367-6046-464A-9CCC-073A4129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384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1E62F4-F97E-4004-AB1B-1948194F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95650"/>
            <a:ext cx="96202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BA8D7C-E2CA-45C1-BD68-7EA58129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52850"/>
            <a:ext cx="96202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D77057-6B46-422F-B374-C5558C58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55295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8200B5-E557-4F8D-810D-B2AFDCF4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5529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POSSIBLE TECHNICAL EXTENSIONS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19D15D-D36F-4FCE-A0D2-FFCCF103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AA4150-0E16-467A-82DB-12441C9C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Integrate Locust controls into the dashboard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DF3145-E382-481C-AB49-F846D636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D62583-9F04-4AE7-A715-6F351994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Run longer and higher-intensity workload experiments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67A835-4F4E-4219-B471-2020B587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86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D0045B-37F3-4621-8848-51605AB9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Compare additional prediction models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616769-28F8-4912-92D7-C2A24CE5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53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645DFB-8596-4F58-BAC7-BAB74FDC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Improve dashboard visualisation and experiment controls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B71FA8-09F1-4640-BAB8-B430C26C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19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675878-DB5C-4AF2-A906-072DD658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Explore cloud or Kubernetes deployment as future work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771CDB-61AD-4383-A3B3-26121533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67250"/>
            <a:ext cx="4810125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C8F3B2-040E-4BFA-9996-0F021A7D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768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Timeline interpretation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C032C8-3887-47AC-8616-A0C2D1A7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timeline sequences final analysis, documentation, demonstration, presentation, viva preparation, and final validation. Week labels are planning markers, not completed milestones.</a:t>
            </a:r>
          </a:p>
        </p:txBody>
      </p:sp>
    </p:spTree>
    <p:extLst>
      <p:ext uri="{BB962C8B-B14F-4D97-AF65-F5344CB8AC3E}">
        <p14:creationId xmlns:p14="http://schemas.microsoft.com/office/powerpoint/2010/main" val="175630377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2026-09-23T09:57:20.8550000Z</dcterms:created>
  <dcterms:modified xsi:type="dcterms:W3CDTF">2026-09-23T09:57:20.8550000Z</dcterms:modified>
</coreProperties>
</file>