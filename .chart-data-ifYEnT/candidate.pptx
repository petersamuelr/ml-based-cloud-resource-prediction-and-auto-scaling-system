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e5ec33cd9a43d1" /><Relationship Type="http://schemas.openxmlformats.org/officeDocument/2006/relationships/extended-properties" Target="/docProps/app.xml" Id="Rbf32c41e378e4cf6" /><Relationship Type="http://schemas.openxmlformats.org/officeDocument/2006/relationships/officeDocument" Target="/ppt/presentation.xml" Id="R7479b3a0bfd141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95d5e6266143ac"/>
  </p:sldMasterIdLst>
  <p:notesMasterIdLst>
    <p:notesMasterId xmlns:r="http://schemas.openxmlformats.org/officeDocument/2006/relationships" r:id="R12ed972115e14611"/>
  </p:notesMasterIdLst>
  <p:sldIdLst>
    <p:sldId xmlns:r="http://schemas.openxmlformats.org/officeDocument/2006/relationships" id="256" r:id="R390f521d3be94a7d"/>
    <p:sldId xmlns:r="http://schemas.openxmlformats.org/officeDocument/2006/relationships" id="257" r:id="R0cd2676ba93943fb"/>
    <p:sldId xmlns:r="http://schemas.openxmlformats.org/officeDocument/2006/relationships" id="258" r:id="R63d55f8e7ec84e98"/>
    <p:sldId xmlns:r="http://schemas.openxmlformats.org/officeDocument/2006/relationships" id="259" r:id="R623cc32955314ed2"/>
    <p:sldId xmlns:r="http://schemas.openxmlformats.org/officeDocument/2006/relationships" id="260" r:id="R28582e6aac3f4c3a"/>
    <p:sldId xmlns:r="http://schemas.openxmlformats.org/officeDocument/2006/relationships" id="261" r:id="Rcaa17517d52846f6"/>
    <p:sldId xmlns:r="http://schemas.openxmlformats.org/officeDocument/2006/relationships" id="262" r:id="R44cd0b19223d41d6"/>
    <p:sldId xmlns:r="http://schemas.openxmlformats.org/officeDocument/2006/relationships" id="263" r:id="Rcf945acd021a4e0b"/>
    <p:sldId xmlns:r="http://schemas.openxmlformats.org/officeDocument/2006/relationships" id="264" r:id="R744422fa30d9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cc7ae574a4a7a" /><Relationship Type="http://schemas.openxmlformats.org/officeDocument/2006/relationships/slideMaster" Target="/ppt/slideMasters/slideMaster1.xml" Id="R6d95d5e6266143ac" /><Relationship Type="http://schemas.openxmlformats.org/officeDocument/2006/relationships/notesMaster" Target="/ppt/notesMasters/notesMaster1.xml" Id="R12ed972115e14611" /><Relationship Type="http://schemas.openxmlformats.org/officeDocument/2006/relationships/presProps" Target="/ppt/presProps.xml" Id="R68169c07a90b400d" /><Relationship Type="http://schemas.openxmlformats.org/officeDocument/2006/relationships/viewProps" Target="/ppt/viewProps.xml" Id="Rfb65a2176340424e" /><Relationship Type="http://schemas.openxmlformats.org/officeDocument/2006/relationships/tableStyles" Target="/ppt/tableStyles.xml" Id="Rbd6ac983df344224" /><Relationship Type="http://schemas.openxmlformats.org/officeDocument/2006/relationships/slide" Target="/ppt/slides/slide1.xml" Id="R390f521d3be94a7d" /><Relationship Type="http://schemas.openxmlformats.org/officeDocument/2006/relationships/slide" Target="/ppt/slides/slide2.xml" Id="R0cd2676ba93943fb" /><Relationship Type="http://schemas.openxmlformats.org/officeDocument/2006/relationships/slide" Target="/ppt/slides/slide3.xml" Id="R63d55f8e7ec84e98" /><Relationship Type="http://schemas.openxmlformats.org/officeDocument/2006/relationships/slide" Target="/ppt/slides/slide4.xml" Id="R623cc32955314ed2" /><Relationship Type="http://schemas.openxmlformats.org/officeDocument/2006/relationships/slide" Target="/ppt/slides/slide5.xml" Id="R28582e6aac3f4c3a" /><Relationship Type="http://schemas.openxmlformats.org/officeDocument/2006/relationships/slide" Target="/ppt/slides/slide6.xml" Id="Rcaa17517d52846f6" /><Relationship Type="http://schemas.openxmlformats.org/officeDocument/2006/relationships/slide" Target="/ppt/slides/slide7.xml" Id="R44cd0b19223d41d6" /><Relationship Type="http://schemas.openxmlformats.org/officeDocument/2006/relationships/slide" Target="/ppt/slides/slide8.xml" Id="Rcf945acd021a4e0b" /><Relationship Type="http://schemas.openxmlformats.org/officeDocument/2006/relationships/slide" Target="/ppt/slides/slide9.xml" Id="R744422fa30d9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19ce6c069c45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7a33057c7b4604" /><Relationship Type="http://schemas.openxmlformats.org/officeDocument/2006/relationships/notesMaster" Target="/ppt/notesMasters/notesMaster1.xml" Id="Re17dff74388142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3a7d3a3a94032" /><Relationship Type="http://schemas.openxmlformats.org/officeDocument/2006/relationships/notesMaster" Target="/ppt/notesMasters/notesMaster1.xml" Id="Ra9cdde125f1c4f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4506d19c334928" /><Relationship Type="http://schemas.openxmlformats.org/officeDocument/2006/relationships/notesMaster" Target="/ppt/notesMasters/notesMaster1.xml" Id="Rf835ef26587147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31ee092a2e402e" /><Relationship Type="http://schemas.openxmlformats.org/officeDocument/2006/relationships/notesMaster" Target="/ppt/notesMasters/notesMaster1.xml" Id="R47a947a2fa4c40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7bed3f3424545" /><Relationship Type="http://schemas.openxmlformats.org/officeDocument/2006/relationships/notesMaster" Target="/ppt/notesMasters/notesMaster1.xml" Id="R788fd0d3cfdb47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26ef2fd19e4369" /><Relationship Type="http://schemas.openxmlformats.org/officeDocument/2006/relationships/notesMaster" Target="/ppt/notesMasters/notesMaster1.xml" Id="Raf0ad2385929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c7f107f48c4ea4" /><Relationship Type="http://schemas.openxmlformats.org/officeDocument/2006/relationships/notesMaster" Target="/ppt/notesMasters/notesMaster1.xml" Id="R1514a2bb181a48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155ca1efd744a4" /><Relationship Type="http://schemas.openxmlformats.org/officeDocument/2006/relationships/notesMaster" Target="/ppt/notesMasters/notesMaster1.xml" Id="Re48d49cdcc4a48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b672f53e004b89" /><Relationship Type="http://schemas.openxmlformats.org/officeDocument/2006/relationships/notesMaster" Target="/ppt/notesMasters/notesMaster1.xml" Id="Rd99b4a38d5824b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results/final-evaluation-valid-matrix.csv and results/final-evaluation-valid-matrix.json. Values are recorded observations; no comparative inference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0718caf304b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55da7f9634c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ca1876abc40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cb6c9fbb94c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037e9b43d46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3bea9c9cb41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a3bbaf79546a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15abff55b4f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c30d051de44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c60800f1f4f2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38e322912432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8B08FF-0B7B-9B07-1AA6-9D28B36DD5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BF5BC3-D249-4838-EB83-7485FEB9E5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00FAB7-89A5-245E-BE40-B77C7C929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E65FEF-444C-39E0-2714-99EE538943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94A803-880E-B906-ED8D-8C866B65B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1734DF-9A22-CC05-F734-A09444B7B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CAE12D-94A6-67EA-3AB5-C1CBC91098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8FF387-3DDE-F673-5A93-E3E36D836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D830B-A6CA-1E9A-ECF8-3A62A9FA8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7641A8-FEAA-80C9-3D45-CFFC63A44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41F70-FA77-5EB5-C0ED-4EDFF84EC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01C6C2-609F-973A-64EA-A118EFBD6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9711A4-CD4E-5F83-F4B3-71B03A0F8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EE6B92-8BB8-EEF7-1E0A-5D8E24471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AF8F9C-F684-3038-BC5E-F78F32B2F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240795-04CF-D6DF-2814-45273C1CF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950572-7AE6-FCD1-7248-4E54358B68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36BB1B-5601-BD96-7EC8-75A1C4BA15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7F9A7D-893F-894C-A94B-E58A0D266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07C37D-207A-7B44-04BF-8DBDB70D2C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035840-6CCC-F4E4-0358-1985A5AFF4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6D99FB-22F7-2E4B-BBFD-ECC7D0565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691B17-238F-CC3A-F8EA-1FC1581E9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C92CCA-2F8F-3D4A-1F5C-F9E234D06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68B9F84-DCA3-4153-0AD9-0C5DE2EC5C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51DD40-EA2E-15D6-94E9-9E5C6D37ADB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9834E9A-9E95-2570-1266-A36DD1C30B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C6C9C01-EEE1-7A8E-065A-AD459CBF74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68DFE3A-1FDD-D9F2-92C2-1F892B185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61157B-E6B9-4F5A-F52C-52178B727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579FAB1-39E6-6F65-34CB-0360B12736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BE12599-830A-9850-F66B-87450ADEA5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2A2461C-AD66-2FFE-8FF4-6F2C3E7B08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822BC82-27FA-5D9B-5AB1-37512F404A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2DEDB66-AF3F-339D-309D-8A0CC4905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4725CF8-2F11-61BE-E1C3-34021FCDA4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438F1E-9446-C2BC-C73B-6A08D1E27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EC3A11-86B4-72B5-8E52-2F034C0809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FD0CA3-D7C6-FFEB-7649-8E463B4722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0C7DAFC-9A47-AB4C-CBA0-8C56DA612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C1289E-3148-CE92-C759-B39EA4BB6D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C249BE-9A53-5DC9-68EA-17A3384719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3EAF8-34BC-7635-5824-48651A6B8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738FD32-E0CB-5924-E7DD-556CD59F9A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E61DA1-9B0D-3A34-00CE-8EEFC859B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F23A86-3D57-B2C6-086D-2E1225A43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658CF4-2A4F-0403-0563-7B7072EC5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777934-192C-5CFF-854D-6927D0D9F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5DCF4-56FE-FB8C-D17F-D5A82443E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CDF659-2E87-08A8-053C-9ACC4BE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CB92B-5C35-671A-CCE7-97EE6F6B67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AB156-CC75-A50B-5E24-509704E79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78814C-B816-967E-995E-59C14488E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94DAA91-27B5-06D5-1C42-ED8ACC595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A3B551-DB6B-7308-F070-6C94E8C30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BA29B1-3325-4C7F-492E-AA3D333DA5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6CAB23-8CF9-7C5B-798B-CBD7B3CCC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B1DA3D-2DEA-C323-C195-CC700D5BF6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6aba1b4cf64989" /><Relationship Type="http://schemas.openxmlformats.org/officeDocument/2006/relationships/slideLayout" Target="/ppt/slideLayouts/slideLayout1.xml" Id="R6ebfe53b20734426" /><Relationship Type="http://schemas.openxmlformats.org/officeDocument/2006/relationships/slideLayout" Target="/ppt/slideLayouts/slideLayout2.xml" Id="Re634c12250b143a9" /><Relationship Type="http://schemas.openxmlformats.org/officeDocument/2006/relationships/slideLayout" Target="/ppt/slideLayouts/slideLayout3.xml" Id="R8ef49a1e4c2e4448" /><Relationship Type="http://schemas.openxmlformats.org/officeDocument/2006/relationships/slideLayout" Target="/ppt/slideLayouts/slideLayout4.xml" Id="Rf380e24def1c4eed" /><Relationship Type="http://schemas.openxmlformats.org/officeDocument/2006/relationships/slideLayout" Target="/ppt/slideLayouts/slideLayout5.xml" Id="Rf94c1d1d991444e7" /><Relationship Type="http://schemas.openxmlformats.org/officeDocument/2006/relationships/slideLayout" Target="/ppt/slideLayouts/slideLayout6.xml" Id="R2db33b71a35548ec" /><Relationship Type="http://schemas.openxmlformats.org/officeDocument/2006/relationships/slideLayout" Target="/ppt/slideLayouts/slideLayout7.xml" Id="Rc97265cb6ee84fa0" /><Relationship Type="http://schemas.openxmlformats.org/officeDocument/2006/relationships/slideLayout" Target="/ppt/slideLayouts/slideLayout8.xml" Id="R832cda19cfd84d16" /><Relationship Type="http://schemas.openxmlformats.org/officeDocument/2006/relationships/slideLayout" Target="/ppt/slideLayouts/slideLayout9.xml" Id="Re5ca07f5eaf048c2" /><Relationship Type="http://schemas.openxmlformats.org/officeDocument/2006/relationships/slideLayout" Target="/ppt/slideLayouts/slideLayout10.xml" Id="Ra87630193be94ffc" /><Relationship Type="http://schemas.openxmlformats.org/officeDocument/2006/relationships/slideLayout" Target="/ppt/slideLayouts/slideLayout11.xml" Id="R5e457e8d568e41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9C33FA-A4B9-C63C-0061-226641DC9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83632-EF3B-451A-D80B-3ECE844ED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85655-65AC-9BC6-EF55-5096D65E9C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A32CC-2496-4BF0-A329-F648E51E8C0B}" type="datetimeFigureOut">
              <a:t>23-09-2026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D764CE-7A3C-9BE7-CDCE-CE12A31881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983D2C-3B26-704D-E16D-609F67C02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300A236-96B9-4D93-838D-AA4CE1175E0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fe53b20734426"/>
    <p:sldLayoutId xmlns:r="http://schemas.openxmlformats.org/officeDocument/2006/relationships" id="2147483650" r:id="Re634c12250b143a9"/>
    <p:sldLayoutId xmlns:r="http://schemas.openxmlformats.org/officeDocument/2006/relationships" id="2147483651" r:id="R8ef49a1e4c2e4448"/>
    <p:sldLayoutId xmlns:r="http://schemas.openxmlformats.org/officeDocument/2006/relationships" id="2147483652" r:id="Rf380e24def1c4eed"/>
    <p:sldLayoutId xmlns:r="http://schemas.openxmlformats.org/officeDocument/2006/relationships" id="2147483653" r:id="Rf94c1d1d991444e7"/>
    <p:sldLayoutId xmlns:r="http://schemas.openxmlformats.org/officeDocument/2006/relationships" id="2147483654" r:id="R2db33b71a35548ec"/>
    <p:sldLayoutId xmlns:r="http://schemas.openxmlformats.org/officeDocument/2006/relationships" id="2147483655" r:id="Rc97265cb6ee84fa0"/>
    <p:sldLayoutId xmlns:r="http://schemas.openxmlformats.org/officeDocument/2006/relationships" id="2147483656" r:id="R832cda19cfd84d16"/>
    <p:sldLayoutId xmlns:r="http://schemas.openxmlformats.org/officeDocument/2006/relationships" id="2147483657" r:id="Re5ca07f5eaf048c2"/>
    <p:sldLayoutId xmlns:r="http://schemas.openxmlformats.org/officeDocument/2006/relationships" id="2147483658" r:id="Ra87630193be94ffc"/>
    <p:sldLayoutId xmlns:r="http://schemas.openxmlformats.org/officeDocument/2006/relationships" id="2147483659" r:id="R5e457e8d568e417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38d82ade54e44" /><Relationship Type="http://schemas.openxmlformats.org/officeDocument/2006/relationships/image" Target="/ppt/media/image.jpeg" Id="R853d9e3dcd7a4e99" /><Relationship Type="http://schemas.openxmlformats.org/officeDocument/2006/relationships/notesSlide" Target="/ppt/notesSlides/notesSlide1.xml" Id="R09645f3e0d4f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5314a4d1a4f12" /><Relationship Type="http://schemas.openxmlformats.org/officeDocument/2006/relationships/notesSlide" Target="/ppt/notesSlides/notesSlide2.xml" Id="Rfcee3af0a21340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0df817284471d" /><Relationship Type="http://schemas.openxmlformats.org/officeDocument/2006/relationships/notesSlide" Target="/ppt/notesSlides/notesSlide3.xml" Id="Rc770233e360c43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489c4505e43d7" /><Relationship Type="http://schemas.openxmlformats.org/officeDocument/2006/relationships/notesSlide" Target="/ppt/notesSlides/notesSlide4.xml" Id="R46a2000da1ec4b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77b2b43e84716" /><Relationship Type="http://schemas.openxmlformats.org/officeDocument/2006/relationships/notesSlide" Target="/ppt/notesSlides/notesSlide5.xml" Id="R53ae6cecc47d4f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90512b5e64cc0" /><Relationship Type="http://schemas.openxmlformats.org/officeDocument/2006/relationships/image" Target="/ppt/media/image.png" Id="Rb9a97d4c878041a7" /><Relationship Type="http://schemas.openxmlformats.org/officeDocument/2006/relationships/notesSlide" Target="/ppt/notesSlides/notesSlide6.xml" Id="R71e1494a38cc44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32ca73dcf4a66" /><Relationship Type="http://schemas.openxmlformats.org/officeDocument/2006/relationships/chart" Target="/ppt/slides/charts/chart1.xml" Id="Rd1cf082278ed41e1" /><Relationship Type="http://schemas.openxmlformats.org/officeDocument/2006/relationships/image" Target="/ppt/media/image2.png" Id="R709242564511436a" /><Relationship Type="http://schemas.openxmlformats.org/officeDocument/2006/relationships/notesSlide" Target="/ppt/notesSlides/notesSlide7.xml" Id="Rbeae660c80d541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ad00b691a4d23" /><Relationship Type="http://schemas.openxmlformats.org/officeDocument/2006/relationships/notesSlide" Target="/ppt/notesSlides/notesSlide8.xml" Id="R0e16bab9589543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f48df08c14b91" /><Relationship Type="http://schemas.openxmlformats.org/officeDocument/2006/relationships/notesSlide" Target="/ppt/notesSlides/notesSlide9.xml" Id="R53cff8a19b974c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Reactive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11.983</c:v>
                </c:pt>
                <c:pt idx="1">
                  <c:v>14.018</c:v>
                </c:pt>
                <c:pt idx="2">
                  <c:v>12.428</c:v>
                </c:pt>
                <c:pt idx="3">
                  <c:v>7.919</c:v>
                </c:pt>
                <c:pt idx="4">
                  <c:v>15.531</c:v>
                </c:pt>
              </c:numCache>
            </c:numRef>
          </c:val>
        </c:ser>
        <c:ser>
          <c:idx val="1"/>
          <c:order val="1"/>
          <c:tx>
            <c:v>Predictive</c:v>
          </c:tx>
          <c:spPr>
            <a:solidFill xmlns:a="http://schemas.openxmlformats.org/drawingml/2006/main">
              <a:srgbClr val="548235"/>
            </a:solidFill>
          </c:spPr>
          <c:cat>
            <c:strRef>
              <c:f>'Chart Data'!$C$2:$C$6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15.933</c:v>
                </c:pt>
                <c:pt idx="1">
                  <c:v>12.424</c:v>
                </c:pt>
                <c:pt idx="2">
                  <c:v>7.147</c:v>
                </c:pt>
                <c:pt idx="3">
                  <c:v>12.715</c:v>
                </c:pt>
                <c:pt idx="4">
                  <c:v>9.649</c:v>
                </c:pt>
              </c:numCache>
            </c:numRef>
          </c:val>
        </c:ser>
        <c:ser>
          <c:idx val="2"/>
          <c:order val="2"/>
          <c:tx>
            <c:v>Adaptive predictive</c:v>
          </c:tx>
          <c:spPr>
            <a:solidFill xmlns:a="http://schemas.openxmlformats.org/drawingml/2006/main">
              <a:srgbClr val="8064A2"/>
            </a:solidFill>
          </c:spPr>
          <c:cat>
            <c:strRef>
              <c:f>'Chart Data'!$E$2:$E$6</c:f>
              <c:strCache>
                <c:ptCount val="5"/>
                <c:pt idx="0">
                  <c:v>Stable</c:v>
                </c:pt>
                <c:pt idx="1">
                  <c:v>Gradual</c:v>
                </c:pt>
                <c:pt idx="2">
                  <c:v>Spike</c:v>
                </c:pt>
                <c:pt idx="3">
                  <c:v>Drop</c:v>
                </c:pt>
                <c:pt idx="4">
                  <c:v>Changing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16.161</c:v>
                </c:pt>
                <c:pt idx="1">
                  <c:v>14.812</c:v>
                </c:pt>
                <c:pt idx="2">
                  <c:v>11.073</c:v>
                </c:pt>
                <c:pt idx="3">
                  <c:v>12.955</c:v>
                </c:pt>
                <c:pt idx="4">
                  <c:v>11.435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Prediction MAE (CPU percentage points)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1FB79BD4-BD47-4CBE-8A6C-3819F59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338" y="3637801"/>
            <a:ext cx="7773035" cy="829506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0000" tIns="45000" rIns="90000" bIns="9144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Times New Roman"/>
                <a:ea typeface="Times New Roman"/>
                <a:cs typeface="Times New Roman"/>
              </a:rPr>
              <a:t>ML-BASED CLOUD </a:t>
            </a:r>
            <a:r>
              <a:rPr sz="2400" b="1">
                <a:latin typeface="Times New Roman"/>
                <a:ea typeface="Times New Roman"/>
                <a:cs typeface="Times New Roman"/>
              </a:rPr>
              <a:t>RESOURCE PREDICTION &amp; AUTO-SCALING SYSTEM</a:t>
            </a:r>
            <a:endParaRPr sz="2800"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E51A6C-1A2C-9693-2ED2-0A388F2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48" y="2966772"/>
            <a:ext cx="32004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74320" indent="-273685" algn="ctr">
              <a:spcBef>
                <a:spcPts val="581"/>
              </a:spcBef>
              <a:buNone/>
            </a:pPr>
            <a:r>
              <a:rPr sz="28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32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A6</a:t>
            </a:r>
            <a:endParaRPr sz="3200" b="1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A92C21-F41C-CB31-65DA-71792B313A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50366" y="1792160"/>
            <a:ext cx="8458200" cy="1088358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latin typeface="Times New Roman"/>
                <a:ea typeface="Times New Roman"/>
                <a:cs typeface="Times New Roman"/>
              </a:rPr>
              <a:t>     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sz="2200" b="1">
                <a:latin typeface="Times New Roman"/>
                <a:ea typeface="Times New Roman"/>
                <a:cs typeface="Times New Roman"/>
              </a:rPr>
              <a:t>ACADEMIC YEAR : 2026 -2027</a:t>
            </a:r>
            <a:br/>
            <a:br/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  </a:t>
            </a:r>
            <a:r>
              <a:rPr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DOMAIN: CLOUD COMPUTING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845F23-B03F-3F2F-C63D-AE20A24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3" y="4890982"/>
            <a:ext cx="2447925" cy="99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12700"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GUIDE NAME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Dr. A. PUNITHA, </a:t>
            </a:r>
            <a:r>
              <a:rPr sz="1300">
                <a:latin typeface="Times New Roman"/>
                <a:ea typeface="Times New Roman"/>
                <a:cs typeface="Times New Roman"/>
              </a:rPr>
              <a:t>Ph.D</a:t>
            </a:r>
            <a:r>
              <a:rPr sz="1300">
                <a:latin typeface="Times New Roman"/>
                <a:ea typeface="Times New Roman"/>
                <a:cs typeface="Times New Roman"/>
              </a:rPr>
              <a:t>,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ASSISTANT PROFESSOR(</a:t>
            </a:r>
            <a:r>
              <a:rPr sz="1300">
                <a:latin typeface="Times New Roman"/>
                <a:ea typeface="Times New Roman"/>
                <a:cs typeface="Times New Roman"/>
              </a:rPr>
              <a:t>Sr.Gr</a:t>
            </a:r>
            <a:r>
              <a:rPr sz="1300">
                <a:latin typeface="Times New Roman"/>
                <a:ea typeface="Times New Roman"/>
                <a:cs typeface="Times New Roman"/>
              </a:rPr>
              <a:t>)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DEPARTMENT OF IT</a:t>
            </a: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341926-F6AB-9C8D-4EE9-FFC54D2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303" y="4628275"/>
            <a:ext cx="2930525" cy="119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92880" rIns="0" bIns="0">
            <a:spAutoFit/>
          </a:bodyPr>
          <a:lstStyle xmlns:a="http://schemas.openxmlformats.org/drawingml/2006/main">
            <a:lvl1pPr marL="12700"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tabLst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just">
              <a:lnSpc>
                <a:spcPct val="150000"/>
              </a:lnSpc>
              <a:spcBef>
                <a:spcPts val="738"/>
              </a:spcBef>
              <a:buClr>
                <a:srgbClr val="000000"/>
              </a:buClr>
              <a:buSzPct val="100000"/>
              <a:buNone/>
            </a:pPr>
            <a:r>
              <a:rPr sz="1300" b="1">
                <a:latin typeface="Times New Roman"/>
                <a:ea typeface="Times New Roman"/>
                <a:cs typeface="Times New Roman"/>
              </a:rPr>
              <a:t>TEAM MEMBERS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PETER SAMUEL. R [23TH0269]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JOEL RAJKUMAR. W [23TH0237]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NAVAMANI. B [23TH0260]</a:t>
            </a:r>
          </a:p>
          <a:p xmlns:a="http://schemas.openxmlformats.org/drawingml/2006/main">
            <a:pPr algn="just">
              <a:buNone/>
            </a:pPr>
            <a:r>
              <a:rPr sz="1300">
                <a:latin typeface="Times New Roman"/>
                <a:ea typeface="Times New Roman"/>
                <a:cs typeface="Times New Roman"/>
              </a:rPr>
              <a:t>JAYASURYA. K [23TH0235]</a:t>
            </a:r>
          </a:p>
        </p:txBody>
      </p:sp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3d9e3dcd7a4e99"/>
          <a:srcRect xmlns:a="http://schemas.openxmlformats.org/drawingml/2006/main" l="0" t="0" r="0" b="34418"/>
          <a:stretch xmlns:a="http://schemas.openxmlformats.org/drawingml/2006/main"/>
        </p:blipFill>
        <p:spPr>
          <a:xfrm xmlns:a="http://schemas.openxmlformats.org/drawingml/2006/main">
            <a:off x="1812119" y="173245"/>
            <a:ext cx="8753475" cy="1530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90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8AAF1-5EAA-46EB-B427-2830AC61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OBJECTIVES &amp;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75CC0-CEE8-400F-A443-92A619C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36F64-C2F6-4767-81FA-E8ED2153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26345-9FDE-4C34-9602-48ABA54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90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09D22-C628-44D7-9F9F-518668D1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786EC-9432-46C0-BC5A-1E781D44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6124B-3ED1-4090-ACC1-F6FBD6BB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538162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60BB7-BEAC-4540-8062-B917783E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3CCAE-173B-4CC6-A33D-7328C181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A06BC-BC6E-47BF-8BD8-88E03EA0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 resource utilisation and workload for healthy container replicas.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322F8-0F4C-4BCB-8FDD-4E57B5E5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C63D2-F84D-4411-B014-6850C7AB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6B1E4-E878-4AC1-BDFF-1913866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 future aggregate CPU utilisation with Random Forest regression.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961E1-4F59-41F3-A252-2DE28681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A11EC-6B93-403E-BA92-BAB78316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7D237-1C25-4455-A65C-AA4F820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Apply reactive and predictive scaling within configured replica limits.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E122B-1F89-463D-8FA5-4A44AFFF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5FDF5-3555-498F-8CE5-9D8B0257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50BF3-C9A9-4158-A595-712EBB5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Maintain safe Nginx membership for labelled Docker replicas.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67987-6A76-44CE-A14F-1F3C2EB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AA386-F826-4E2E-A301-B0335006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A620D-56FA-4C31-938B-19BD24CC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Detect persistent forecast errors and retrain only after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08C45-525E-4AA8-9734-90D546D9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C4CA1-1A1D-4580-BE1D-526444C1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9D09D-E032-491B-8245-4E062D06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policies under controlled workload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3E9E7A-FAA7-489C-8F98-83219114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6257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1E7BE-DC23-4819-B43C-C07ADA6A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66875"/>
            <a:ext cx="4714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This project implements a Docker-based framework for comparing reactive, predictive, and error-aware adaptive predictive autoscaling. Locust sends controlled traffic through Nginx to healthy FastAPI replicas. The monitoring pipeline stores five-second CPU, memory, request-rate, response-time, and replica measurements in MongoDB. A Random Forest regression model predicts aggregate CPU 30 seconds ahead using only information available at the prediction time. The controller records prediction feedback and can retrain a candidate model after persistent errors, subject to chronological validation before activation.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D6299-6A72-41E1-B016-734300BF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714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46BC2-8947-49E0-BA1D-AAE7BFD4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Primary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244DB1-D176-460E-955B-7000B3C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aggregate CPU utilisation</a:t>
            </a:r>
          </a:p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Arithmetic mean across active healthy replicas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A4E9D3-8609-4402-A571-138E89A5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97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0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Measurement contract: 5-second monitoring interval   |   30-second prediction horizon</a:t>
            </a:r>
          </a:p>
        </p:txBody>
      </p:sp>
    </p:spTree>
    <p:extLst>
      <p:ext uri="{BB962C8B-B14F-4D97-AF65-F5344CB8AC3E}">
        <p14:creationId xmlns:p14="http://schemas.microsoft.com/office/powerpoint/2010/main" val="234484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D14D21-F14C-4AD3-953E-6F6BF46C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EXISTING &amp; PROPOSED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96721-D7EB-4BAA-83D5-5F388134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10375-F9B6-4C4A-BF83-5B39BF8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proposed design closes the loop from workload generation to validated model adaptation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E0ACF-8961-4B58-B888-92F461CE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D5E70-EA38-4519-9E4E-AA2FFD28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REACTIVE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D3B47-1D5F-4206-B2D6-C7C363EC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304EC-9F72-424A-879C-9CEF43CD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382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User /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C727F-B4B7-47BB-AFE4-5A36AD5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8EDAE-FADD-40FB-BF0D-61580DEA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cxnSp>
        <p:nvCxnSpPr>
          <p:cNvPr id="8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62075" y="18478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8552F-C7BE-4293-9923-5C197CC0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7DAA5-AC2B-4941-A68B-9A83738C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860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Resource monitoring</a:t>
            </a:r>
          </a:p>
        </p:txBody>
      </p:sp>
      <p:cxnSp>
        <p:nvCxnSpPr>
          <p:cNvPr id="85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362075" y="25717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3AFCF-786A-4D0F-BB1A-07855F8F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6003D-3662-42C0-BB0E-A1DC1A26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Threshold decision</a:t>
            </a:r>
          </a:p>
        </p:txBody>
      </p:sp>
      <p:cxnSp>
        <p:nvCxnSpPr>
          <p:cNvPr id="88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62075" y="32956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486A4-F843-43D6-A98A-FDCAD12A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29283-E1AB-45CB-AEA7-C1104EE2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33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Scale out / in</a:t>
            </a:r>
          </a:p>
        </p:txBody>
      </p:sp>
      <p:cxnSp>
        <p:nvCxnSpPr>
          <p:cNvPr id="91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362075" y="40195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55A11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4A057-5EB3-4B7D-BCF0-A43D8098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E4064-0EE0-4CB6-AFB8-70E7B5EB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47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CONTROL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A4BBD-7C6D-4C16-A372-E28C5673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ED59C-73ED-4DE0-A46D-D168396F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Locust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3CA58-0480-4A80-B45A-213C05F7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3D2C5-29B8-40FE-82DA-AE240950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47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load balancer</a:t>
            </a:r>
          </a:p>
        </p:txBody>
      </p:sp>
      <p:cxnSp>
        <p:nvCxnSpPr>
          <p:cNvPr id="98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438650" y="17049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7722F6-68F6-43B3-8FA2-E52D582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1A127A-5E84-43B6-A316-585663F6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145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Healthy FastAPI replicas</a:t>
            </a:r>
          </a:p>
        </p:txBody>
      </p:sp>
      <p:cxnSp>
        <p:nvCxnSpPr>
          <p:cNvPr id="101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438650" y="21717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F02B9-0696-4A97-8B65-02AD8FE5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11682-7E86-44CA-860A-0D39B3B9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cxnSp>
        <p:nvCxnSpPr>
          <p:cNvPr id="104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438650" y="2638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0B21DD-CB06-47D9-9827-ACF523B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AB310A-F849-42FF-B3FE-6583FCB4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cxnSp>
        <p:nvCxnSpPr>
          <p:cNvPr id="107" name="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438650" y="31051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4705F1-7B25-426B-8226-971096D9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B86E1C-5E66-4394-AEEF-8236DFBE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Random Forest prediction</a:t>
            </a:r>
          </a:p>
        </p:txBody>
      </p:sp>
      <p:cxnSp>
        <p:nvCxnSpPr>
          <p:cNvPr id="110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438650" y="35718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5FBF1C-68E8-4170-8253-224E301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18B73E-F43A-496E-BBDD-73A96953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Scaling policy</a:t>
            </a:r>
          </a:p>
        </p:txBody>
      </p:sp>
      <p:cxnSp>
        <p:nvCxnSpPr>
          <p:cNvPr id="113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438650" y="40386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DA4839-8321-4A89-85DC-4C4DC8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495EDF-AC4D-4C67-9203-DBF9DA47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replica management</a:t>
            </a:r>
          </a:p>
        </p:txBody>
      </p:sp>
      <p:cxnSp>
        <p:nvCxnSpPr>
          <p:cNvPr id="116" name=""/>
          <p:cNvCxnSpPr>
            <a:stCxn xmlns:a="http://schemas.openxmlformats.org/drawingml/2006/main" id="39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4438650" y="45053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3C4777-AF45-4264-8381-8C781B65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75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5B18F8-AF8A-4384-A030-BE35B5A4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4E79"/>
                </a:solidFill>
                <a:latin typeface="Arial"/>
                <a:ea typeface="Arial"/>
                <a:cs typeface="Arial"/>
              </a:rPr>
              <a:t>Nginx membership update</a:t>
            </a:r>
          </a:p>
        </p:txBody>
      </p:sp>
      <p:cxnSp>
        <p:nvCxnSpPr>
          <p:cNvPr id="119" name=""/>
          <p:cNvCxnSpPr>
            <a:stCxn xmlns:a="http://schemas.openxmlformats.org/drawingml/2006/main" id="4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4438650" y="49720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5B5"/>
            </a:solidFill>
            <a:prstDash val="solid"/>
            <a:head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D01951-C51D-49B9-9186-98CFBC5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281E5A-67E9-4A90-A68F-B05C86A5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1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React dashboard  ↔  Backend APIs</a:t>
            </a:r>
          </a:p>
        </p:txBody>
      </p:sp>
      <p:cxnSp>
        <p:nvCxnSpPr>
          <p:cNvPr id="122" name=""/>
          <p:cNvCxnSpPr>
            <a:stCxn xmlns:a="http://schemas.openxmlformats.org/drawingml/2006/main" id="30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2724150" y="2943225"/>
            <a:ext cx="3429000" cy="3067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CC654D-DB99-46D5-92FC-D895B220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7C282C-7959-4811-904E-CADFD8FD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ERROR-AWARE ADAPTIVE LOOP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EB86BA-2134-46FA-8D7A-B26196A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5A4CB1-CBC8-4441-A129-FA3A00CF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Actual CPU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9B2E97-6A25-4F19-BCE1-0A947EC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18AEBE-B7B2-49BD-B5FD-05C664EA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Prediction error</a:t>
            </a:r>
          </a:p>
        </p:txBody>
      </p:sp>
      <p:cxnSp>
        <p:nvCxnSpPr>
          <p:cNvPr id="129" name="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8667750" y="1790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E1D414-C33B-4241-B0C2-EE8C454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04507B-0550-4EEA-B740-E3AC2F3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Persistent error detection</a:t>
            </a:r>
          </a:p>
        </p:txBody>
      </p:sp>
      <p:cxnSp>
        <p:nvCxnSpPr>
          <p:cNvPr id="132" name=""/>
          <p:cNvCxnSpPr>
            <a:stCxn xmlns:a="http://schemas.openxmlformats.org/drawingml/2006/main" id="55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8667750" y="2438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739FEC-46A1-4C02-AF0E-CAC6747D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DF3240-D922-4101-8681-7B1C2532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8235"/>
                </a:solidFill>
                <a:latin typeface="Arial"/>
                <a:ea typeface="Arial"/>
                <a:cs typeface="Arial"/>
              </a:rPr>
              <a:t>Candidate retraining</a:t>
            </a:r>
          </a:p>
        </p:txBody>
      </p:sp>
      <p:cxnSp>
        <p:nvCxnSpPr>
          <p:cNvPr id="135" name=""/>
          <p:cNvCxnSpPr>
            <a:stCxn xmlns:a="http://schemas.openxmlformats.org/drawingml/2006/main" id="58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8667750" y="30861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49C2F9-EFEE-4234-B8AB-5E57C5BC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496263-7B83-4018-839A-437E1AC3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Chronological validation</a:t>
            </a:r>
          </a:p>
        </p:txBody>
      </p:sp>
      <p:cxnSp>
        <p:nvCxnSpPr>
          <p:cNvPr id="138" name=""/>
          <p:cNvCxnSpPr>
            <a:stCxn xmlns:a="http://schemas.openxmlformats.org/drawingml/2006/main" id="61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8667750" y="37338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8DD1B1-3A65-44CB-B602-ED965DFD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26ABE6-C56F-4292-A17D-E3EB4D11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Model activation</a:t>
            </a:r>
          </a:p>
        </p:txBody>
      </p:sp>
      <p:cxnSp>
        <p:nvCxnSpPr>
          <p:cNvPr id="141" name=""/>
          <p:cNvCxnSpPr>
            <a:stCxn xmlns:a="http://schemas.openxmlformats.org/drawingml/2006/main" id="64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8667750" y="4381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36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6153150" y="1590675"/>
            <a:ext cx="1085850" cy="2286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67" idx="2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 flipV="1">
            <a:off x="6153150" y="3876675"/>
            <a:ext cx="251460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48235"/>
            </a:solidFill>
            <a:prstDash val="solid"/>
            <a:head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8D86EC-3EC9-433F-B96A-FBA96BC9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76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Scale-in safety: remove from Nginx upstream → validate configuration → graceful reload → stop replica</a:t>
            </a:r>
          </a:p>
        </p:txBody>
      </p:sp>
    </p:spTree>
    <p:extLst>
      <p:ext uri="{BB962C8B-B14F-4D97-AF65-F5344CB8AC3E}">
        <p14:creationId xmlns:p14="http://schemas.microsoft.com/office/powerpoint/2010/main" val="1092685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D3D1E-0BCA-4A79-8BDB-C09E6A26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MODULE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2C15-CCEA-4559-BF7B-2602B239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61A08-F6F9-436B-AF4C-D2B111EA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873EF-63B8-44AA-8EFF-AB125A57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55170-F88C-46E3-925F-BF7B962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88240-34DD-463F-A73A-0F06548D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Workload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E0C4-4270-4F90-BC06-D025F5C1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Locust scenarios: stable, gradual increase, sudden spike, sudden drop, periodic, and changing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Traffic enters only through Nginx.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CAB59-757B-4FB0-B731-D42BB82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B1B9C-BF87-40C9-9B88-BAE5FB3A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07872-44C8-416E-AEEF-884BF9DB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DE046-17F7-4E52-A4E1-1AFB5A3E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Monitoring &amp; data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A5B1B-3BBC-48FA-BA7F-CFDC400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Five-second sampling of labelled healthy replicas.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CPU, memory, request rate, response time, replica count, and timestamps persist in MongoDB.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31C32-DD54-4B72-ADC0-A775E717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57275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9FB5A-8716-4796-8C7E-4B8A77E7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ABB43-69FB-4C9D-88AD-EFF7C982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00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9A45D-E33D-4BE7-B093-D73491E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2001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ML 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D0A48-CE80-47FB-8C17-4F156EA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85925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Leak-free dataset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Random Forest predicts aggregate CPU 30 seconds ahead. Chronological validation reports MAE and RMSE.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74417-C121-4847-A51C-FA3ECBBB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A30F0-7C7A-4995-BE3C-DACF2FA3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90248-9AD2-43A3-9099-0D1D7EFC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62020-388F-45DE-98F2-51847EE7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Autoscaling &amp; adaptation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BDF28-A282-4F77-86A0-49314A72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and predictive decisions use configured thresholds, cooldowns, and replica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Persistent error gates candidate retraining and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100FE-23EF-45A9-A801-3FB5833E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3524250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498D6-0315-4BD9-BF52-C319799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7ECD7-A2A8-4072-B0AE-DF0AE4A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A6DBB-4BBE-489D-B65B-CFB80A9D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Dashboard &amp; experimentation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89061-D159-4D51-AD96-C9CC9D2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143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 exposes read-only live state and histories.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runner records raw observations and exports CSV/JSON.</a:t>
            </a:r>
          </a:p>
        </p:txBody>
      </p:sp>
    </p:spTree>
    <p:extLst>
      <p:ext uri="{BB962C8B-B14F-4D97-AF65-F5344CB8AC3E}">
        <p14:creationId xmlns:p14="http://schemas.microsoft.com/office/powerpoint/2010/main" val="1309191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E56D429-C5FA-45C9-9839-B4AB46E1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STATUS SINCE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11C32-D6F1-40C9-BDF7-2679A04A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82883-8A36-4BFA-8213-35DE7761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Implemented and 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282EF-1C2A-46B7-92E8-285AB809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715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Current final-stage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98ED0-F4AA-4A0D-BC87-1A030449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4ECED-489B-4F0A-BA29-19BE6864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6D787-57AD-4875-A28F-A44B97A4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6AE34-9132-4370-90A1-8603A92B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1BB2E-6B71-469D-B803-3250D99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85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E8D35-D8D7-4A91-9D74-05C8028C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0BF93-9C24-4E21-AF60-3309E0C4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67026-9541-4BA1-A379-6CA4DE15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FastAPI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48B41-BF0A-4A5E-A3DD-BEAA589E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12D1C-C533-4AA0-A7EB-2245F392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E9F07-ACFD-4E18-B685-3737E1E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48F0D-A6FA-414D-9082-FEE75913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Docker containerization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42418-08EF-4C08-AAED-9B4FED1D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05C3C-A116-4D4F-8E86-4D4E8047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1054C-1FDB-42A5-BB1D-C27BFCA7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EE40-85CC-4581-80D7-594ACA99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Nginx load balancing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AAB37-2D5C-487C-BC06-324C9F85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2678D-5143-491F-906F-6938FA2C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8E29B-8A55-4421-932E-A6D57071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19DBD-0CFF-435B-A120-EF5A3D71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Dynamic replica membership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A0A01-2C53-473F-AB15-EC78D44A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299AD-9AC3-4428-B8B1-86E9C742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234ED-9379-4407-AA0B-C3ADBC11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8D785-33E7-4581-BD23-D3226D10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Monitoring pipeline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7ABE51-4717-4D1F-9B35-8FF69A8B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1151D-D0CF-4D28-AD97-F24149AD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F12DD7-0CBF-4336-B8CF-9F6E2F64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A38EF-5DDE-4947-8B61-B63DB10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MongoDB integration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F0C578-6611-42AF-9785-43DD2BE1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B976B7-3208-4FE1-87AA-1C7612CF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4EB1AA-4B82-4D26-8FA9-2D413A80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CBFECF-C491-4E6A-808D-643ECF6D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ML prediction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BCF89B-335B-42A4-8319-3F407ED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A46FFB-A3D6-4C91-AE65-AE820FC2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B80A6C-3C61-4197-8342-CF03D4EA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85B8EA-252A-4F2E-BD58-6488836D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Reactive scaling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F08FB7-10BE-418C-9097-88832BE9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1F6095-61B8-430A-B59F-A3D570E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492550-2D48-4E46-A28E-3C254FA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90B1F7-0478-46F8-ABE0-E89B9E0E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Predictive scaling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C7AD70-7312-4CEB-B407-26000709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346850-6D77-4C3E-95DC-ED8532FC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2EF8EF-2E65-42ED-8D2E-FC8CFBDF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4A3794-4672-45C1-9521-0C66A4FB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Adaptive retraining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4C1D29-A956-4563-8FD0-B487A612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4841D2-78C9-4D78-9726-C7C87A28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9CDB16-CED9-40CB-B9A0-AE6BF0FB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DAA2B0-702C-4147-8A56-7D81E743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React dashboard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DC8733-458F-428B-B552-4B0B1D83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387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D445FF-9F2F-49EC-97AA-3381238E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64D270-B777-4D0C-8FC8-054A5B8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114F9E-8294-40FF-9908-2DA11ED7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Experiment framework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C7A6C4-3D00-4E3A-A36F-B56355F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E24B5E-3623-49D1-8ED5-95B1DD2B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C7518F-8063-43AF-864E-0F5E946C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E84FF0-CE81-4328-8174-CF46E342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Evaluation experiments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353F37-57A8-4A13-975F-80F733C3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EC514C-6695-4BD9-8776-33A7E8A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5143500" cy="466725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7620">
            <a:solidFill>
              <a:srgbClr val="F4B18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60A0B8-765A-4424-8369-161EFE95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BE6035-9C9B-4DB2-8A9D-B6B7BFC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668B2C-3695-499C-94EC-FA7305B0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43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FFA63C-63EA-4141-A21B-EB620A40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525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556DCE-F28C-46B1-8EA3-99AB3574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E9459E-A1EC-4E4E-99CB-3329C70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7F9E04-0D23-4BF5-9C4E-2CB64F19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and documentation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2DA777-61B0-48AF-ABE6-1EA62370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D0EF27-F1F5-4AF3-AD2C-5C01DD7F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A18699-B1C3-4235-A229-ADD43744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E7EBCC-A4A7-4817-88A4-7A326588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CC9EA0-FC2B-4539-8347-0B9DC4A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DE1FCA8-3962-4E1B-A5F7-74E160F9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51E46D-B55A-4857-A303-0495FB75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1807215-5029-4030-B2E6-38FB872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932468-35B2-486E-842F-7E30A610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956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E4680D-DC76-4D45-87A1-D87940B9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625ABC-EE3D-42DB-AB7F-882D3D5F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BEE427-A47C-43D2-8036-9724AF93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00F27E-FC57-484B-8DCB-2F3801E6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766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EA1C70-E9C5-4297-BDFE-DA4FEA4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496ECE2-6B00-4873-A120-DCA0FEDE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12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37AC0D-78EC-4C93-83DB-09A67AC6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6E385E-5DB0-4667-9138-D92326A7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31BED46-5095-4805-9D4C-02B20A57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prototype, data pipeline, policies, dashboard, and fixed evaluation matrix are complete. The remaining work prepares the final analysis, documentation,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086384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2E364-39BD-41D8-84FB-9EFD1C28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D25D4-9E57-4E7C-84FD-6885DF72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14072-D446-4666-9B35-A8C68E6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local evidence captured from the running project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CBF54-D233-4B7C-B9C2-E2417D29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7048500" cy="414337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97d4c878041a7"/>
          <a:srcRect xmlns:a="http://schemas.openxmlformats.org/drawingml/2006/main" l="0" t="12488" r="0" b="12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71575"/>
            <a:ext cx="6838950" cy="3848100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27B65-0876-4837-92D7-40C782AC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57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control-loop dashboard: observed status, CPU, predictions, model version, and validation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BE3DD-9A6C-4F26-892D-B269F8E8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66800"/>
            <a:ext cx="385762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7310F-F5F6-43EE-869E-BDF556CD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Docker Compose service status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020050" y="1562100"/>
          <a:ext xmlns:a="http://schemas.openxmlformats.org/drawingml/2006/main" cx="333375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</a:tblGrid>
              <a:tr h="171450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Application replica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MongoDB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Backend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Frontend dashboard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548235"/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BB101-0F2C-4C0C-B1EB-5849DA0A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3857625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8DE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F7E8A-D6BE-4377-B6E4-62AB88FB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246B4-B90B-49CD-84B4-D7940385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3190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FastAPI application replicas expose /health and /work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Nginx routes traffic only to healthy labelled replicas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Backend records observations and read-only APIs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React dashboard polls the API every five seconds</a:t>
            </a:r>
          </a:p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Repository is organised into app, backend, nginx, load-tests, config, docs,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7F5C0-B29C-4229-8013-D6F0C202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No pre-existing Locust or terminal screenshots were stored in the repository. This slide therefore uses the verified live dashboard and live Compose service state rather than stock or recreated images.</a:t>
            </a:r>
          </a:p>
        </p:txBody>
      </p:sp>
    </p:spTree>
    <p:extLst>
      <p:ext uri="{BB962C8B-B14F-4D97-AF65-F5344CB8AC3E}">
        <p14:creationId xmlns:p14="http://schemas.microsoft.com/office/powerpoint/2010/main" val="2066373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15431-BF48-468A-8016-0ABC405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PRELIMINARY RESULTS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0D390-2771-434F-AA7D-E3EB0E56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D700F-9994-461B-855A-560CD6D6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Recorded final evaluation matrix: 15 valid policy–workload trials; fixed traces did not trigger scaling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9575" y="1095375"/>
          <a:ext xmlns:a="http://schemas.openxmlformats.org/drawingml/2006/main" cx="6286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cf082278ed41e1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6962775" y="1095375"/>
          <a:ext xmlns:a="http://schemas.openxmlformats.org/drawingml/2006/main" cx="4686300" cy="1952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1050"/>
                <a:gridCol w="781050"/>
                <a:gridCol w="781050"/>
                <a:gridCol w="781050"/>
                <a:gridCol w="781050"/>
                <a:gridCol w="781050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Trials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Response-time range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events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Adaptation attempts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7.919–15.531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116.073–175.784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Predictive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7.147–15.933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115.709–118.278 ms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predictive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11.073–16.161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114.434–117.595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EE92A-219B-47DF-B828-7D13EA76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38500"/>
            <a:ext cx="4686300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242564511436a"/>
          <a:srcRect xmlns:a="http://schemas.openxmlformats.org/drawingml/2006/main" l="0" t="20847" r="0" b="20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58025" y="3333750"/>
            <a:ext cx="4495800" cy="16383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FC033-21EB-40D4-B371-81C0DCB0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958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Live dashboard view of observed metrics and prediction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C40DA-B90A-42F0-8B5A-C4D2E932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6286500" cy="1438275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7620">
            <a:solidFill>
              <a:srgbClr val="E9B8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17063-BCA3-49DC-A26C-DA6BC096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Reporting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3FA01-C1A2-43E5-9EF1-4E16E893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5810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All chart and table values come from results/final-evaluation-valid-matrix.csv and .json. The 15 fixed evaluation traces recorded zero scaling events. Separate controlled validation verified scaling and adaptive candidate handling. No performance improvement is claimed from this matrix.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AF46F-3599-40A0-AC8D-D739D8CC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Model version recorded for every final-matrix trial: rf-20260917180253-f01e3afc</a:t>
            </a:r>
          </a:p>
        </p:txBody>
      </p:sp>
    </p:spTree>
    <p:extLst>
      <p:ext uri="{BB962C8B-B14F-4D97-AF65-F5344CB8AC3E}">
        <p14:creationId xmlns:p14="http://schemas.microsoft.com/office/powerpoint/2010/main" val="2076882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0046E-F784-4F43-A3E8-A82E75D2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HURDLES &amp; MITIGATION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9B9AD-9664-492B-9301-ABB00C9E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9575" y="11239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95625"/>
                <a:gridCol w="8143875"/>
              </a:tblGrid>
              <a:tr h="61232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Hurdle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38572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Docker / WSL environment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Used a reproducible Docker Compose environment and project-scoped labels to keep application control separate from unrelated containers.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Dynamic Nginx replica management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Membership controller discovers only healthy labelled replicas, generates an upstream, validates Nginx, then reloads gracefully.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Prediction and target-time alignment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Locked the 30-second horizon and five-second sampling interval; dataset and feedback use chronological target matching.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Persistent prediction errors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Adaptive service requires threshold breaches across consecutive evaluated predictions before candidate retraining.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Candidate model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Candidate model must pass chronological validation before activation; rejected and superseded versions remain recorded.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Windows command-length limitation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Experiment recorder accepts encoded input through standard input, avoiding oversized command-line payloads.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304BB-6939-4342-AFFE-675D485B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62625"/>
            <a:ext cx="112395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7620">
            <a:solidFill>
              <a:srgbClr val="A9D1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CF90E-BE87-49A9-B408-526C7B62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1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All mitigations describe implemented behaviour or recorded integration issues. They do not claim production-cloud readiness.</a:t>
            </a:r>
          </a:p>
        </p:txBody>
      </p:sp>
    </p:spTree>
    <p:extLst>
      <p:ext uri="{BB962C8B-B14F-4D97-AF65-F5344CB8AC3E}">
        <p14:creationId xmlns:p14="http://schemas.microsoft.com/office/powerpoint/2010/main" val="743864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8ABE25-E485-4939-8E06-5BBB329F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8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FUTURE WORK &amp;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186F5-BE86-4F3B-B701-1FF2577D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4375"/>
            <a:ext cx="1123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57921-F2E3-4AC3-81C0-9C1997D5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05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Remaining delivery work and possible technical extensions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26CEB-B5B0-41DA-A1F4-D399BB2B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23114-E69A-47E0-ACE3-15767CC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7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DELIVERY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087F8-8343-4CE0-9786-CA09FA6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57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result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122C4-D6E6-4281-9129-0D0EFE4A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report /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F42BE-969D-4DBA-AC81-88C26E34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Demo refinement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AACA5-FEB7-4A8F-BF02-98ECA9FD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Presentation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E2D85-312B-4B37-9CA9-BD12E9AD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Viva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58D55-A407-4132-9691-5C54916B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43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89BDC-4BDE-4EF0-A228-288E345C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D5FFD-315A-44DB-8DA0-1F38396C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3ABDC-0497-49C6-B23E-D778C295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1FC22-B38D-4B9F-A969-E629337A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BA585-47F5-45B1-9F6D-60A9B3E5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E6ADF-599A-4D4D-98A3-DFC959B1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33CB3-5453-497A-A402-205E9C58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EA7E1-1510-4C8B-988B-87A394F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568C5-4F3B-4FF5-B7FF-D66AA28F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D3FCB-AA88-40CF-A54A-5875D6E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3ED72-C9A8-4A55-9008-C7C08A26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5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F7C62-6CF6-469E-A129-CF6DAB7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9525" cy="2905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3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1EA74-1750-4FE3-BF81-3A8C291F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668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FD7BD-52A4-45F4-8BD4-C2F513D5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240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3B3E0-AC24-4B8D-A404-085EB87A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F1FFBE-1465-4B21-8F6F-5BCB63CD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00977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001833-9A4D-4DDF-96BD-71D9A93D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A2069-0F16-41D9-A0D6-AAFD5D68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52850"/>
            <a:ext cx="962025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AAA54-49D3-4597-A0BB-4F9BA39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2FB0F8-2686-4ECA-B269-0B17F4F2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529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TECHNICAL EXTENSIONS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76D391-95C0-4A78-B81F-E094C785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1682BF-9B83-4C0E-ACE4-F63C49B6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Integrate Locust controls into the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BABA1D-725A-4F17-8103-B480DD7B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1631A5-DE3C-43E6-83C6-455E041F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longer and higher-intensity workload experiments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8485C9-6E94-4AFC-917F-9AFE6A32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D8AB48-75AE-4B23-B349-9FDB2D55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additional prediction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1C9C15-B9F7-4B13-9C0D-283A6135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04456-F313-4D75-8250-FB15147A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Improve dashboard visualisation and experiment controls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B11ACF-69EC-4DEE-8D07-2A52129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07D677-43FD-4BBB-98AD-FD1327E7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Explore cloud or Kubernetes deployment as future 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BD549F-8A0C-4383-9C5D-EEE3FA8A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4810125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BF8"/>
          </a:solidFill>
          <a:ln xmlns:a="http://schemas.openxmlformats.org/drawingml/2006/main" w="7620">
            <a:solidFill>
              <a:srgbClr val="C9D3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E27F0D-32F2-4EB2-B3EA-8623BA39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Timeline interpretation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9CB613-7664-47B7-8A93-FAF934F4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timeline sequences final analysis, documentation, demonstration, presentation, viva preparation, and final validation. Week labels are planning markers, not completed milestones.</a:t>
            </a:r>
          </a:p>
        </p:txBody>
      </p:sp>
    </p:spTree>
    <p:extLst>
      <p:ext uri="{BB962C8B-B14F-4D97-AF65-F5344CB8AC3E}">
        <p14:creationId xmlns:p14="http://schemas.microsoft.com/office/powerpoint/2010/main" val="18220746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2026-09-23T09:52:08.1520000Z</dcterms:created>
  <dcterms:modified xsi:type="dcterms:W3CDTF">2026-09-23T09:52:08.1520000Z</dcterms:modified>
</coreProperties>
</file>