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fa8fe5a147478f" /><Relationship Type="http://schemas.openxmlformats.org/officeDocument/2006/relationships/extended-properties" Target="/docProps/app.xml" Id="Rdaa67344b3c34ff5" /><Relationship Type="http://schemas.openxmlformats.org/officeDocument/2006/relationships/officeDocument" Target="/ppt/presentation.xml" Id="R36e154b6257b4f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dd84a81b3845ca"/>
  </p:sldMasterIdLst>
  <p:notesMasterIdLst>
    <p:notesMasterId xmlns:r="http://schemas.openxmlformats.org/officeDocument/2006/relationships" r:id="R11c8c1d74a9c474f"/>
  </p:notesMasterIdLst>
  <p:sldIdLst>
    <p:sldId xmlns:r="http://schemas.openxmlformats.org/officeDocument/2006/relationships" id="256" r:id="Rbbb9cb6f6d07475c"/>
    <p:sldId xmlns:r="http://schemas.openxmlformats.org/officeDocument/2006/relationships" id="257" r:id="R1e48eb77e3f74003"/>
    <p:sldId xmlns:r="http://schemas.openxmlformats.org/officeDocument/2006/relationships" id="258" r:id="R009034f62849488f"/>
    <p:sldId xmlns:r="http://schemas.openxmlformats.org/officeDocument/2006/relationships" id="259" r:id="Rd612c8d6546a47a9"/>
    <p:sldId xmlns:r="http://schemas.openxmlformats.org/officeDocument/2006/relationships" id="260" r:id="Rbdeceabdf74b4505"/>
    <p:sldId xmlns:r="http://schemas.openxmlformats.org/officeDocument/2006/relationships" id="261" r:id="R9904e06418d140a7"/>
    <p:sldId xmlns:r="http://schemas.openxmlformats.org/officeDocument/2006/relationships" id="262" r:id="R74d921dd688c48e5"/>
    <p:sldId xmlns:r="http://schemas.openxmlformats.org/officeDocument/2006/relationships" id="263" r:id="R70eef35a170b4f7f"/>
    <p:sldId xmlns:r="http://schemas.openxmlformats.org/officeDocument/2006/relationships" id="264" r:id="Rd7e489f427f040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9800f7cfdc4d59" /><Relationship Type="http://schemas.openxmlformats.org/officeDocument/2006/relationships/slideMaster" Target="/ppt/slideMasters/slideMaster1.xml" Id="R58dd84a81b3845ca" /><Relationship Type="http://schemas.openxmlformats.org/officeDocument/2006/relationships/notesMaster" Target="/ppt/notesMasters/notesMaster1.xml" Id="R11c8c1d74a9c474f" /><Relationship Type="http://schemas.openxmlformats.org/officeDocument/2006/relationships/presProps" Target="/ppt/presProps.xml" Id="Rb9e66eb8db484dd2" /><Relationship Type="http://schemas.openxmlformats.org/officeDocument/2006/relationships/viewProps" Target="/ppt/viewProps.xml" Id="Rdfbaf845a7cc4794" /><Relationship Type="http://schemas.openxmlformats.org/officeDocument/2006/relationships/tableStyles" Target="/ppt/tableStyles.xml" Id="Rb481e4a0934d4a1d" /><Relationship Type="http://schemas.openxmlformats.org/officeDocument/2006/relationships/slide" Target="/ppt/slides/slide1.xml" Id="Rbbb9cb6f6d07475c" /><Relationship Type="http://schemas.openxmlformats.org/officeDocument/2006/relationships/slide" Target="/ppt/slides/slide2.xml" Id="R1e48eb77e3f74003" /><Relationship Type="http://schemas.openxmlformats.org/officeDocument/2006/relationships/slide" Target="/ppt/slides/slide3.xml" Id="R009034f62849488f" /><Relationship Type="http://schemas.openxmlformats.org/officeDocument/2006/relationships/slide" Target="/ppt/slides/slide4.xml" Id="Rd612c8d6546a47a9" /><Relationship Type="http://schemas.openxmlformats.org/officeDocument/2006/relationships/slide" Target="/ppt/slides/slide5.xml" Id="Rbdeceabdf74b4505" /><Relationship Type="http://schemas.openxmlformats.org/officeDocument/2006/relationships/slide" Target="/ppt/slides/slide6.xml" Id="R9904e06418d140a7" /><Relationship Type="http://schemas.openxmlformats.org/officeDocument/2006/relationships/slide" Target="/ppt/slides/slide7.xml" Id="R74d921dd688c48e5" /><Relationship Type="http://schemas.openxmlformats.org/officeDocument/2006/relationships/slide" Target="/ppt/slides/slide8.xml" Id="R70eef35a170b4f7f" /><Relationship Type="http://schemas.openxmlformats.org/officeDocument/2006/relationships/slide" Target="/ppt/slides/slide9.xml" Id="Rd7e489f427f040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ff77318d204c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3214954a784da7" /><Relationship Type="http://schemas.openxmlformats.org/officeDocument/2006/relationships/notesMaster" Target="/ppt/notesMasters/notesMaster1.xml" Id="R4b7a43d1cec547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75d0dd8bfb4610" /><Relationship Type="http://schemas.openxmlformats.org/officeDocument/2006/relationships/notesMaster" Target="/ppt/notesMasters/notesMaster1.xml" Id="Re99978aff5f049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09b36b1f5d4f30" /><Relationship Type="http://schemas.openxmlformats.org/officeDocument/2006/relationships/notesMaster" Target="/ppt/notesMasters/notesMaster1.xml" Id="R87b85084850549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f0b70490594019" /><Relationship Type="http://schemas.openxmlformats.org/officeDocument/2006/relationships/notesMaster" Target="/ppt/notesMasters/notesMaster1.xml" Id="R4eabffe28b9143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c7a180bc4b489e" /><Relationship Type="http://schemas.openxmlformats.org/officeDocument/2006/relationships/notesMaster" Target="/ppt/notesMasters/notesMaster1.xml" Id="R2694014957ef46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a1e580872641cb" /><Relationship Type="http://schemas.openxmlformats.org/officeDocument/2006/relationships/notesMaster" Target="/ppt/notesMasters/notesMaster1.xml" Id="R6b0cae4d78dc41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c692de17d348d0" /><Relationship Type="http://schemas.openxmlformats.org/officeDocument/2006/relationships/notesMaster" Target="/ppt/notesMasters/notesMaster1.xml" Id="R09816378b3da4d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45f5553fb648dc" /><Relationship Type="http://schemas.openxmlformats.org/officeDocument/2006/relationships/notesMaster" Target="/ppt/notesMasters/notesMaster1.xml" Id="Rc42f4446bb1e47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4a04c7932340b0" /><Relationship Type="http://schemas.openxmlformats.org/officeDocument/2006/relationships/notesMaster" Target="/ppt/notesMasters/notesMaster1.xml" Id="R94505489af5546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results/final-evaluation-valid-matrix.csv and results/final-evaluation-valid-matrix.json. Values are recorded observations; no comparative inference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fa84d77e34a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6e89e9d7c42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6835c3ca744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d09c9debd43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13a5faa26e4f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0a61296c840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7184caf97400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951d7f99a450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21c9fb43049b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b0c586e6342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3836bd6ad493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8B08FF-0B7B-9B07-1AA6-9D28B36DD5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0BF5BC3-D249-4838-EB83-7485FEB9E5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00FAB7-89A5-245E-BE40-B77C7C929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E65FEF-444C-39E0-2714-99EE538943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94A803-880E-B906-ED8D-8C866B65B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1734DF-9A22-CC05-F734-A09444B7B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CAE12D-94A6-67EA-3AB5-C1CBC91098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8FF387-3DDE-F673-5A93-E3E36D836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0D830B-A6CA-1E9A-ECF8-3A62A9FA8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7641A8-FEAA-80C9-3D45-CFFC63A447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041F70-FA77-5EB5-C0ED-4EDFF84EC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01C6C2-609F-973A-64EA-A118EFBD69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9711A4-CD4E-5F83-F4B3-71B03A0F82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EE6B92-8BB8-EEF7-1E0A-5D8E24471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AF8F9C-F684-3038-BC5E-F78F32B2F1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240795-04CF-D6DF-2814-45273C1CF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950572-7AE6-FCD1-7248-4E54358B68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C36BB1B-5601-BD96-7EC8-75A1C4BA15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77F9A7D-893F-894C-A94B-E58A0D266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07C37D-207A-7B44-04BF-8DBDB70D2C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035840-6CCC-F4E4-0358-1985A5AFF4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6D99FB-22F7-2E4B-BBFD-ECC7D0565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691B17-238F-CC3A-F8EA-1FC1581E9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C92CCA-2F8F-3D4A-1F5C-F9E234D06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68B9F84-DCA3-4153-0AD9-0C5DE2EC5C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351DD40-EA2E-15D6-94E9-9E5C6D37ADB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9834E9A-9E95-2570-1266-A36DD1C30B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C6C9C01-EEE1-7A8E-065A-AD459CBF74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68DFE3A-1FDD-D9F2-92C2-1F892B185D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61157B-E6B9-4F5A-F52C-52178B727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579FAB1-39E6-6F65-34CB-0360B12736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BE12599-830A-9850-F66B-87450ADEA5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2A2461C-AD66-2FFE-8FF4-6F2C3E7B08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822BC82-27FA-5D9B-5AB1-37512F404A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2DEDB66-AF3F-339D-309D-8A0CC49057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4725CF8-2F11-61BE-E1C3-34021FCDA4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438F1E-9446-C2BC-C73B-6A08D1E27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EC3A11-86B4-72B5-8E52-2F034C0809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FD0CA3-D7C6-FFEB-7649-8E463B4722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0C7DAFC-9A47-AB4C-CBA0-8C56DA612E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C1289E-3148-CE92-C759-B39EA4BB6D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C249BE-9A53-5DC9-68EA-17A3384719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D3EAF8-34BC-7635-5824-48651A6B8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38FD32-E0CB-5924-E7DD-556CD59F9A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E61DA1-9B0D-3A34-00CE-8EEFC859B1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F23A86-3D57-B2C6-086D-2E1225A43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658CF4-2A4F-0403-0563-7B7072EC5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777934-192C-5CFF-854D-6927D0D9F6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D5DCF4-56FE-FB8C-D17F-D5A82443E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CDF659-2E87-08A8-053C-9ACC4BE7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8CB92B-5C35-671A-CCE7-97EE6F6B67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AB156-CC75-A50B-5E24-509704E791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78814C-B816-967E-995E-59C14488E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94DAA91-27B5-06D5-1C42-ED8ACC595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A3B551-DB6B-7308-F070-6C94E8C307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BA29B1-3325-4C7F-492E-AA3D333DA5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6CAB23-8CF9-7C5B-798B-CBD7B3CCC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B1DA3D-2DEA-C323-C195-CC700D5BF6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867147e6444e0d" /><Relationship Type="http://schemas.openxmlformats.org/officeDocument/2006/relationships/slideLayout" Target="/ppt/slideLayouts/slideLayout1.xml" Id="Rbdea9249ba1e40d2" /><Relationship Type="http://schemas.openxmlformats.org/officeDocument/2006/relationships/slideLayout" Target="/ppt/slideLayouts/slideLayout2.xml" Id="Rd5abab4434444e4e" /><Relationship Type="http://schemas.openxmlformats.org/officeDocument/2006/relationships/slideLayout" Target="/ppt/slideLayouts/slideLayout3.xml" Id="R975b5199ce244a34" /><Relationship Type="http://schemas.openxmlformats.org/officeDocument/2006/relationships/slideLayout" Target="/ppt/slideLayouts/slideLayout4.xml" Id="Re0ef5f62b7d64045" /><Relationship Type="http://schemas.openxmlformats.org/officeDocument/2006/relationships/slideLayout" Target="/ppt/slideLayouts/slideLayout5.xml" Id="Rdb2ccebb92984869" /><Relationship Type="http://schemas.openxmlformats.org/officeDocument/2006/relationships/slideLayout" Target="/ppt/slideLayouts/slideLayout6.xml" Id="Raa4cd742cf0d4192" /><Relationship Type="http://schemas.openxmlformats.org/officeDocument/2006/relationships/slideLayout" Target="/ppt/slideLayouts/slideLayout7.xml" Id="R954e820c62f440ca" /><Relationship Type="http://schemas.openxmlformats.org/officeDocument/2006/relationships/slideLayout" Target="/ppt/slideLayouts/slideLayout8.xml" Id="Rdf56a4d433384df6" /><Relationship Type="http://schemas.openxmlformats.org/officeDocument/2006/relationships/slideLayout" Target="/ppt/slideLayouts/slideLayout9.xml" Id="R2de4396252c14c57" /><Relationship Type="http://schemas.openxmlformats.org/officeDocument/2006/relationships/slideLayout" Target="/ppt/slideLayouts/slideLayout10.xml" Id="R4bf483f9c57a4c69" /><Relationship Type="http://schemas.openxmlformats.org/officeDocument/2006/relationships/slideLayout" Target="/ppt/slideLayouts/slideLayout11.xml" Id="Rdec6c69979a4418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C9C33FA-A4B9-C63C-0061-226641DC9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083632-EF3B-451A-D80B-3ECE844ED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85655-65AC-9BC6-EF55-5096D65E9C7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D764CE-7A3C-9BE7-CDCE-CE12A31881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983D2C-3B26-704D-E16D-609F67C02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ea9249ba1e40d2"/>
    <p:sldLayoutId xmlns:r="http://schemas.openxmlformats.org/officeDocument/2006/relationships" id="2147483650" r:id="Rd5abab4434444e4e"/>
    <p:sldLayoutId xmlns:r="http://schemas.openxmlformats.org/officeDocument/2006/relationships" id="2147483651" r:id="R975b5199ce244a34"/>
    <p:sldLayoutId xmlns:r="http://schemas.openxmlformats.org/officeDocument/2006/relationships" id="2147483652" r:id="Re0ef5f62b7d64045"/>
    <p:sldLayoutId xmlns:r="http://schemas.openxmlformats.org/officeDocument/2006/relationships" id="2147483653" r:id="Rdb2ccebb92984869"/>
    <p:sldLayoutId xmlns:r="http://schemas.openxmlformats.org/officeDocument/2006/relationships" id="2147483654" r:id="Raa4cd742cf0d4192"/>
    <p:sldLayoutId xmlns:r="http://schemas.openxmlformats.org/officeDocument/2006/relationships" id="2147483655" r:id="R954e820c62f440ca"/>
    <p:sldLayoutId xmlns:r="http://schemas.openxmlformats.org/officeDocument/2006/relationships" id="2147483656" r:id="Rdf56a4d433384df6"/>
    <p:sldLayoutId xmlns:r="http://schemas.openxmlformats.org/officeDocument/2006/relationships" id="2147483657" r:id="R2de4396252c14c57"/>
    <p:sldLayoutId xmlns:r="http://schemas.openxmlformats.org/officeDocument/2006/relationships" id="2147483658" r:id="R4bf483f9c57a4c69"/>
    <p:sldLayoutId xmlns:r="http://schemas.openxmlformats.org/officeDocument/2006/relationships" id="2147483659" r:id="Rdec6c69979a4418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d3705c9974547" /><Relationship Type="http://schemas.openxmlformats.org/officeDocument/2006/relationships/image" Target="/ppt/media/image.jpeg" Id="Ree18c7e4720442a6" /><Relationship Type="http://schemas.openxmlformats.org/officeDocument/2006/relationships/notesSlide" Target="/ppt/notesSlides/notesSlide1.xml" Id="R85281ccc811f4e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b7650bfb04b5d" /><Relationship Type="http://schemas.openxmlformats.org/officeDocument/2006/relationships/notesSlide" Target="/ppt/notesSlides/notesSlide2.xml" Id="Re9891f899ab947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5ceb7db6e49ee" /><Relationship Type="http://schemas.openxmlformats.org/officeDocument/2006/relationships/notesSlide" Target="/ppt/notesSlides/notesSlide3.xml" Id="R3133d549a00b42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9c44d5e124bd1" /><Relationship Type="http://schemas.openxmlformats.org/officeDocument/2006/relationships/notesSlide" Target="/ppt/notesSlides/notesSlide4.xml" Id="Rd237550d68354d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1d50bfb0d4cc8" /><Relationship Type="http://schemas.openxmlformats.org/officeDocument/2006/relationships/notesSlide" Target="/ppt/notesSlides/notesSlide5.xml" Id="R5e4165a3b6ab4c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f78b6591c4aeb" /><Relationship Type="http://schemas.openxmlformats.org/officeDocument/2006/relationships/image" Target="/ppt/media/image.png" Id="R6355d3d495b04396" /><Relationship Type="http://schemas.openxmlformats.org/officeDocument/2006/relationships/notesSlide" Target="/ppt/notesSlides/notesSlide6.xml" Id="Rc185b221094846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99a1a88c84ea8" /><Relationship Type="http://schemas.openxmlformats.org/officeDocument/2006/relationships/chart" Target="/ppt/slides/charts/chart1.xml" Id="R66921ffa681a4d69" /><Relationship Type="http://schemas.openxmlformats.org/officeDocument/2006/relationships/image" Target="/ppt/media/image2.png" Id="R5392071bb521477c" /><Relationship Type="http://schemas.openxmlformats.org/officeDocument/2006/relationships/notesSlide" Target="/ppt/notesSlides/notesSlide7.xml" Id="Rbaca33bc3bf547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b03c3f01049e7" /><Relationship Type="http://schemas.openxmlformats.org/officeDocument/2006/relationships/notesSlide" Target="/ppt/notesSlides/notesSlide8.xml" Id="Rc9c0639585a44c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61002cff742b3" /><Relationship Type="http://schemas.openxmlformats.org/officeDocument/2006/relationships/notesSlide" Target="/ppt/notesSlides/notesSlide9.xml" Id="R85263ed7807c43c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Reactive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Data'!$A$2:$A$6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11.983</c:v>
                </c:pt>
                <c:pt idx="1">
                  <c:v>14.018</c:v>
                </c:pt>
                <c:pt idx="2">
                  <c:v>12.428</c:v>
                </c:pt>
                <c:pt idx="3">
                  <c:v>7.919</c:v>
                </c:pt>
                <c:pt idx="4">
                  <c:v>15.531</c:v>
                </c:pt>
              </c:numCache>
            </c:numRef>
          </c:val>
        </c:ser>
        <c:ser>
          <c:idx val="1"/>
          <c:order val="1"/>
          <c:tx>
            <c:v>Predictive</c:v>
          </c:tx>
          <c:spPr>
            <a:solidFill xmlns:a="http://schemas.openxmlformats.org/drawingml/2006/main">
              <a:srgbClr val="548235"/>
            </a:solidFill>
          </c:spPr>
          <c:cat>
            <c:strRef>
              <c:f>'Chart Data'!$C$2:$C$6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15.933</c:v>
                </c:pt>
                <c:pt idx="1">
                  <c:v>12.424</c:v>
                </c:pt>
                <c:pt idx="2">
                  <c:v>7.147</c:v>
                </c:pt>
                <c:pt idx="3">
                  <c:v>12.715</c:v>
                </c:pt>
                <c:pt idx="4">
                  <c:v>9.649</c:v>
                </c:pt>
              </c:numCache>
            </c:numRef>
          </c:val>
        </c:ser>
        <c:ser>
          <c:idx val="2"/>
          <c:order val="2"/>
          <c:tx>
            <c:v>Adaptive predictive</c:v>
          </c:tx>
          <c:spPr>
            <a:solidFill xmlns:a="http://schemas.openxmlformats.org/drawingml/2006/main">
              <a:srgbClr val="8064A2"/>
            </a:solidFill>
          </c:spPr>
          <c:cat>
            <c:strRef>
              <c:f>'Chart Data'!$E$2:$E$6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16.161</c:v>
                </c:pt>
                <c:pt idx="1">
                  <c:v>14.812</c:v>
                </c:pt>
                <c:pt idx="2">
                  <c:v>11.073</c:v>
                </c:pt>
                <c:pt idx="3">
                  <c:v>12.955</c:v>
                </c:pt>
                <c:pt idx="4">
                  <c:v>11.435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Prediction MAE (CPU percentage points)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CustomShape 1">
            <a:extLst xmlns:a="http://schemas.openxmlformats.org/drawingml/2006/main">
              <a:ext uri="{FF2B5EF4-FFF2-40B4-BE49-F238E27FC236}">
                <a16:creationId xmlns:a16="http://schemas.microsoft.com/office/drawing/2014/main" id="{31E88CE0-44CC-4821-BFAA-66B126A2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338" y="3637801"/>
            <a:ext cx="7773035" cy="829506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0000" tIns="45000" rIns="90000" bIns="9144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ML-BASED CLOUD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RESOURCE PREDICTION &amp; AUTO-SCALING SYSTEM</a:t>
            </a:r>
            <a:endParaRPr sz="2800"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E51A6C-1A2C-9693-2ED2-0A388F2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48" y="2966772"/>
            <a:ext cx="32004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74320" indent="-273685" algn="ctr">
              <a:spcBef>
                <a:spcPts val="581"/>
              </a:spcBef>
              <a:buNone/>
            </a:pPr>
            <a:r>
              <a:rPr sz="28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BATCH</a:t>
            </a:r>
            <a:r>
              <a:rPr sz="32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A6</a:t>
            </a:r>
            <a:endParaRPr sz="3200" b="1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A92C21-F41C-CB31-65DA-71792B313A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50366" y="1792160"/>
            <a:ext cx="8458200" cy="1088358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latin typeface="Times New Roman"/>
                <a:ea typeface="Times New Roman"/>
                <a:cs typeface="Times New Roman"/>
              </a:rPr>
              <a:t>     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sz="2200" b="1">
                <a:latin typeface="Times New Roman"/>
                <a:ea typeface="Times New Roman"/>
                <a:cs typeface="Times New Roman"/>
              </a:rPr>
              <a:t>ACADEMIC YEAR : 2026 -2027</a:t>
            </a:r>
            <a:br/>
            <a:br/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  </a:t>
            </a:r>
            <a:r>
              <a:rPr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DOMAIN: CLOUD COMPUTING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845F23-B03F-3F2F-C63D-AE20A24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43" y="4890982"/>
            <a:ext cx="2447925" cy="99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12700"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GUIDE NAME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Dr. A. PUNITHA, </a:t>
            </a:r>
            <a:r>
              <a:rPr sz="1300">
                <a:latin typeface="Times New Roman"/>
                <a:ea typeface="Times New Roman"/>
                <a:cs typeface="Times New Roman"/>
              </a:rPr>
              <a:t>Ph.D</a:t>
            </a:r>
            <a:r>
              <a:rPr sz="1300"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ASSISTANT PROFESSOR(</a:t>
            </a:r>
            <a:r>
              <a:rPr sz="1300">
                <a:latin typeface="Times New Roman"/>
                <a:ea typeface="Times New Roman"/>
                <a:cs typeface="Times New Roman"/>
              </a:rPr>
              <a:t>Sr.Gr</a:t>
            </a:r>
            <a:r>
              <a:rPr sz="1300"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DEPARTMENT OF IT</a:t>
            </a: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341926-F6AB-9C8D-4EE9-FFC54D2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303" y="4628275"/>
            <a:ext cx="2930525" cy="119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 marL="12700"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TEAM MEMBERS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PETER SAMUEL. R [23TH0269]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JOEL RAJKUMAR. W [23TH0237]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NAVAMANI. B [23TH0260]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JAYASURYA. K [23TH0235]</a:t>
            </a:r>
          </a:p>
        </p:txBody>
      </p:sp>
      <p:pic>
        <p:nvPicPr>
          <p:cNvPr id="48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18c7e4720442a6"/>
          <a:srcRect xmlns:a="http://schemas.openxmlformats.org/drawingml/2006/main" l="0" t="0" r="0" b="34418"/>
          <a:stretch xmlns:a="http://schemas.openxmlformats.org/drawingml/2006/main"/>
        </p:blipFill>
        <p:spPr>
          <a:xfrm xmlns:a="http://schemas.openxmlformats.org/drawingml/2006/main">
            <a:off x="1812119" y="173245"/>
            <a:ext cx="8753475" cy="15304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60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9EF73-A2CD-4B32-94AF-B4A42323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OBJECTIVES &amp;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F1998-8CC2-47D6-BF32-F803AE0D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98790-5110-4C54-9499-AF0560F3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0CBD6-EECF-467F-8D08-59826903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C421B-608B-4E6E-A917-C87821DA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3AED9-FDEF-4378-880A-B354162E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ABSTRACT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5946A-57AD-4E84-AE2B-5A15622B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52550"/>
            <a:ext cx="538162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62885-C96F-4DC6-947B-3C44BF78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C4D22-795D-4CD9-BEA1-B648780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65913-DD70-46B1-B8EE-AFB401C9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 resource utilisation and workload for healthy container replicas.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C75D0-DB9D-4E28-BC56-E5771FB2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E9C33-6E30-40F7-B8AE-7318A861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95380-1EDE-4D48-932D-710E5110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 future aggregate CPU utilisation with Random Forest regression.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BF786-CD13-42EC-8B90-647B67D2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10405-FF31-49C0-ACA9-EB70C6A8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42F4B-3E5C-4C49-9532-49300094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Apply reactive and predictive scaling within configured replica limits.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4AF1F-DB45-4DD5-931C-81FBA225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B8C35-3FB6-40A0-80C4-4B7202AC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0AEDE-E532-4E4E-BDCF-5B54BA7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Maintain safe Nginx membership for labelled Docker replicas.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0073C-771B-4AF2-9ECA-CC9C5D8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D74F4-4137-43BD-B40B-58DB92DA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873F5-C00C-4565-9ECF-AE525071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Detect persistent forecast errors and retrain only after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CECEB-3E08-4739-B445-FCBD516B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0292E-8A65-43EC-B938-BC72D3F7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78F343-6D80-483B-8F1A-6D9888A3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policies under controlled workload patterns.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EA8BD8-DD46-41F8-9B3A-8AE5EC5E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6257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031ED-758E-498D-9F91-1DE93C9A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66875"/>
            <a:ext cx="4714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This project implements a Docker-based framework for comparing reactive, predictive, and error-aware adaptive predictive autoscaling. Locust sends controlled traffic through Nginx to healthy FastAPI replicas. The monitoring pipeline stores five-second CPU, memory, request-rate, response-time, and replica measurements in MongoDB. A Random Forest regression model predicts aggregate CPU 30 seconds ahead using only information available at the prediction time. The controller records prediction feedback and can retrain a candidate model after persistent errors, subject to chronological validation before activation.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B6CF1C-712E-4588-9BCC-D278E35F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71487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2EC607-6E8C-4BA6-BC61-C1454DF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14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Primary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5E2E29-A73E-48AB-AE8A-7C9A7139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aggregate CPU utilisation</a:t>
            </a:r>
          </a:p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Arithmetic mean across active healthy replicas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18A7E4-E507-4AD7-BEA2-2D695E43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197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0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Measurement contract: 5-second monitoring interval   |   30-second prediction horizon</a:t>
            </a:r>
          </a:p>
        </p:txBody>
      </p:sp>
    </p:spTree>
    <p:extLst>
      <p:ext uri="{BB962C8B-B14F-4D97-AF65-F5344CB8AC3E}">
        <p14:creationId xmlns:p14="http://schemas.microsoft.com/office/powerpoint/2010/main" val="2130399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DC39E31-621D-4174-8711-CC8C3A29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EXISTING &amp; PROPOSED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A97EE-E2FF-43BA-95CE-622ECE16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C7CE8-ADD9-4F72-8966-A9A07268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proposed design closes the loop from workload generation to validated model adaptation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27E4C-5399-4613-A2C7-23004EFB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12D13-B887-49B2-99E6-12DC883A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REACTIVE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EB847-E7D4-4ED9-A1B3-C0A1A8A3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C5C71-B634-462E-957D-F8761A88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User / 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20D03-7958-4B4E-99B0-60CA09C9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D6F27-961E-444F-A380-6B3AE5F9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cxnSp>
        <p:nvCxnSpPr>
          <p:cNvPr id="82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62075" y="18478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86816-91D9-4496-B8B3-E071A727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A13E7-8F7D-4E46-8037-99D862A6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Resource monitoring</a:t>
            </a:r>
          </a:p>
        </p:txBody>
      </p:sp>
      <p:cxnSp>
        <p:nvCxnSpPr>
          <p:cNvPr id="85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362075" y="25717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9A204-52B7-4FF6-A1F9-B380A981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7ADA7-327A-48B7-BC6B-C3DA5515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Threshold decision</a:t>
            </a:r>
          </a:p>
        </p:txBody>
      </p:sp>
      <p:cxnSp>
        <p:nvCxnSpPr>
          <p:cNvPr id="88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62075" y="32956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0DA95-8573-4A50-8A61-595B2B64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D08E5-C32A-4C6F-A6FC-6F897055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Scale out / in</a:t>
            </a:r>
          </a:p>
        </p:txBody>
      </p:sp>
      <p:cxnSp>
        <p:nvCxnSpPr>
          <p:cNvPr id="91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362075" y="40195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3439B-92EC-4F17-AA25-0899DDEE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E50CD-F542-4E4F-B12F-DB934B60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CONTROL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83704-0BB8-488A-A657-189C1242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AEBA2-E701-4597-A317-E53F6940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Locust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69622-D3B4-4CE0-974A-9A89575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3B1DA-1C35-4ED3-B448-95D655DA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load balancer</a:t>
            </a:r>
          </a:p>
        </p:txBody>
      </p:sp>
      <p:cxnSp>
        <p:nvCxnSpPr>
          <p:cNvPr id="98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438650" y="17049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36B245-C69A-4078-98CB-0C3F8748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8B38F-257E-4DED-B4D0-9BE2E564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Healthy FastAPI replicas</a:t>
            </a:r>
          </a:p>
        </p:txBody>
      </p:sp>
      <p:cxnSp>
        <p:nvCxnSpPr>
          <p:cNvPr id="101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438650" y="21717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C528E-2C5D-4832-8755-45F19C60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562D2D-16DB-4117-ADBC-DCD0AD21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cxnSp>
        <p:nvCxnSpPr>
          <p:cNvPr id="104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438650" y="2638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D3D477-FB83-4F5F-92D1-FBD213CA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2231D7-9A7B-4BC8-BE2E-219C46A8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cxnSp>
        <p:nvCxnSpPr>
          <p:cNvPr id="107" name=""/>
          <p:cNvCxnSpPr>
            <a:stCxn xmlns:a="http://schemas.openxmlformats.org/drawingml/2006/main" id="3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438650" y="31051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27768C-27BE-4923-BAEB-54C9DE62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74DE3D-458F-4EF8-B24C-A221ABC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Random Forest prediction</a:t>
            </a:r>
          </a:p>
        </p:txBody>
      </p:sp>
      <p:cxnSp>
        <p:nvCxnSpPr>
          <p:cNvPr id="110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438650" y="35718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9ACE21-B970-48CD-A621-345665A9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199B34-5DD4-40F6-B7DC-908D837D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Scaling policy</a:t>
            </a:r>
          </a:p>
        </p:txBody>
      </p:sp>
      <p:cxnSp>
        <p:nvCxnSpPr>
          <p:cNvPr id="113" name=""/>
          <p:cNvCxnSpPr>
            <a:stCxn xmlns:a="http://schemas.openxmlformats.org/drawingml/2006/main" id="36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4438650" y="40386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A7CB0F-7604-4480-A08C-30E12240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D315F6-5FE0-487B-9319-C512F5DB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replica management</a:t>
            </a:r>
          </a:p>
        </p:txBody>
      </p:sp>
      <p:cxnSp>
        <p:nvCxnSpPr>
          <p:cNvPr id="116" name=""/>
          <p:cNvCxnSpPr>
            <a:stCxn xmlns:a="http://schemas.openxmlformats.org/drawingml/2006/main" id="39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4438650" y="45053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0C1E3C-3D3D-4769-AC6F-7653C7FA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831929-81B3-401A-9E01-1DCBEFC9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membership update</a:t>
            </a:r>
          </a:p>
        </p:txBody>
      </p:sp>
      <p:cxnSp>
        <p:nvCxnSpPr>
          <p:cNvPr id="119" name=""/>
          <p:cNvCxnSpPr>
            <a:stCxn xmlns:a="http://schemas.openxmlformats.org/drawingml/2006/main" id="42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4438650" y="49720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A67A5E-37E5-4D49-A84E-64A315DB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18BACE-CA95-4434-B7C7-27C26AB2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React dashboard  ↔  Backend APIs</a:t>
            </a:r>
          </a:p>
        </p:txBody>
      </p:sp>
      <p:cxnSp>
        <p:nvCxnSpPr>
          <p:cNvPr id="122" name=""/>
          <p:cNvCxnSpPr>
            <a:stCxn xmlns:a="http://schemas.openxmlformats.org/drawingml/2006/main" id="30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2724150" y="2943225"/>
            <a:ext cx="3429000" cy="3067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41F8A2-A82F-4083-B3BA-2009BB5A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0063DD-D062-4FAA-87ED-A7CC937F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ERROR-AWARE ADAPTIVE LOOP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F29C33-FA81-499D-98ED-77DB0B11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CA7B89-E429-421F-B11D-82AC2FD6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Actual CPU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504DB7-3B10-486F-9D08-3BE420DF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528D2F-629A-4223-BE81-F446DDC4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Prediction error</a:t>
            </a:r>
          </a:p>
        </p:txBody>
      </p:sp>
      <p:cxnSp>
        <p:nvCxnSpPr>
          <p:cNvPr id="129" name=""/>
          <p:cNvCxnSpPr>
            <a:stCxn xmlns:a="http://schemas.openxmlformats.org/drawingml/2006/main" id="53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8667750" y="17907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1D6500-30C3-4C3C-89BD-347AF57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88F070-EDF7-408F-AA03-1EA77E7C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Persistent error detection</a:t>
            </a:r>
          </a:p>
        </p:txBody>
      </p:sp>
      <p:cxnSp>
        <p:nvCxnSpPr>
          <p:cNvPr id="132" name=""/>
          <p:cNvCxnSpPr>
            <a:stCxn xmlns:a="http://schemas.openxmlformats.org/drawingml/2006/main" id="55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8667750" y="2438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B5ACED-DB24-4464-8391-E6E9195B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1E838E-ACB0-4A1F-8A1E-9336C698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Candidate retraining</a:t>
            </a:r>
          </a:p>
        </p:txBody>
      </p:sp>
      <p:cxnSp>
        <p:nvCxnSpPr>
          <p:cNvPr id="135" name=""/>
          <p:cNvCxnSpPr>
            <a:stCxn xmlns:a="http://schemas.openxmlformats.org/drawingml/2006/main" id="58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8667750" y="30861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1B1391-AF80-412B-9EA9-4876A238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444DDA-98A5-4934-97B3-06487DBC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Chronological validation</a:t>
            </a:r>
          </a:p>
        </p:txBody>
      </p:sp>
      <p:cxnSp>
        <p:nvCxnSpPr>
          <p:cNvPr id="138" name=""/>
          <p:cNvCxnSpPr>
            <a:stCxn xmlns:a="http://schemas.openxmlformats.org/drawingml/2006/main" id="61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8667750" y="37338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D00EBF-DA07-4B83-A29C-C8B1B421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1CD574C-663F-4D27-86CA-6ECF8057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Model activation</a:t>
            </a:r>
          </a:p>
        </p:txBody>
      </p:sp>
      <p:cxnSp>
        <p:nvCxnSpPr>
          <p:cNvPr id="141" name=""/>
          <p:cNvCxnSpPr>
            <a:stCxn xmlns:a="http://schemas.openxmlformats.org/drawingml/2006/main" id="64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8667750" y="4381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36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6153150" y="1590675"/>
            <a:ext cx="1085850" cy="2286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67" idx="2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 flipV="1">
            <a:off x="6153150" y="3876675"/>
            <a:ext cx="251460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F4D279-DA33-4A32-A618-4C213ADC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76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Scale-in safety: remove from Nginx upstream → validate configuration → graceful reload → stop replica</a:t>
            </a:r>
          </a:p>
        </p:txBody>
      </p:sp>
    </p:spTree>
    <p:extLst>
      <p:ext uri="{BB962C8B-B14F-4D97-AF65-F5344CB8AC3E}">
        <p14:creationId xmlns:p14="http://schemas.microsoft.com/office/powerpoint/2010/main" val="575745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987EE-9298-4CA9-9EA0-96DA240E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MODULE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8A379-C3E5-45EA-9CD7-A2B9642E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6B9EC-3A6F-40F0-8FAC-B1122121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D769D-A178-4BFD-BD81-6ACFBDB5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A3D54-CDD5-4A99-A57A-18230534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5BFFE-7847-4E26-9675-C53CBB3E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Workload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35C56-BE95-43A8-92A4-FF65E686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Locust scenarios: stable, gradual increase, sudden spike, sudden drop, periodic, and changing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Traffic enters only through Nginx.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AD3ED-B798-4353-83BE-3D3CE8A9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27060-4FE5-4B4F-87E9-211DFE85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93629-5F6E-40E1-8770-DA07B561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69D89-BC5D-4F8F-A385-9FE3C03C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 &amp; data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72C41-195A-4D74-BA17-4BE404A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Five-second sampling of labelled healthy replicas.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CPU, memory, request rate, response time, replica count, and timestamps persist in MongoDB.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A1F94-6B63-4E9D-A5DA-8EEBF6A7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8F780-8DBF-4FB0-BAF5-F1548D92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20E5E-837A-41D7-BF8D-098A8E8C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DF9B2-D396-4D3D-A218-B1616E5A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ML 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D4E0-1A01-47DF-A98D-EBA6DBC4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Leak-free dataset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Random Forest predicts aggregate CPU 30 seconds ahead. Chronological validation reports MAE and RMSE.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37968-6527-4141-BF72-2D5A366A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07551-8362-4CF3-929B-F173A6AC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86E9A-1B6D-4E9B-8D23-024F97F2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C3955-B8E5-46F1-8DD2-B417D966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Autoscaling &amp; adaptation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2DA4B-F28B-4246-B962-273DB8D6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and predictive decisions use configured thresholds, cooldowns, and replica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Persistent error gates candidate retraining and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859A7-CBD1-404A-87E7-6CCF35D3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764C0-AEDE-4258-9729-A241E85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9ADBB-4DA3-46F9-9D76-E533757E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F12962-DB27-495D-AEFD-A1CF56AA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Dashboard &amp; experimentation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EDBD0-925E-4CCE-9A8F-614A9112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 exposes read-only live state and histories.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runner records raw observations and exports CSV/JSON.</a:t>
            </a:r>
          </a:p>
        </p:txBody>
      </p:sp>
    </p:spTree>
    <p:extLst>
      <p:ext uri="{BB962C8B-B14F-4D97-AF65-F5344CB8AC3E}">
        <p14:creationId xmlns:p14="http://schemas.microsoft.com/office/powerpoint/2010/main" val="1068025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2C98845-3457-4932-BFDE-50E02B7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STATUS SINCE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D57F4-8B80-4159-A069-676B0CA6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D80C9-5DE1-4589-93D4-48F728B5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Implemented and verified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EFFD4-A8C2-42F5-92B7-8ADD8AE4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715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Current final-stage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13DD1-A729-4D37-80D4-584AD20C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5E84A-E99E-4C1A-A67E-2B614B05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AEB36-9464-499B-AFC1-378A45FD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DFCB3-EBFE-4BE1-90A1-1E668FFB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ABF7C-F65D-4FD3-8F06-1462B425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85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15A0E-241E-4D3A-9CE4-18C98E1F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D76A6-DC7A-49F0-820C-96B25FB3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04F33-9B33-4540-B9BF-5F3C4B6E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FastAPI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FB75C-F49F-4FC7-95D7-DDDCA04E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D3B8C-E567-42CB-9B83-AB9821FA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88814-F2F6-4E39-8A81-D09E0075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3CDCE-A53F-4FEC-916A-268B7CE0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Docker containerization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954AC-4BF2-495F-BC9C-318731B3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9D560-B192-4C48-8481-AF688D4B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AA910-B7D2-4CAB-AD2B-B29B44D3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CFEDB-046C-4CFA-AF4B-5D5D804A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Nginx load balancing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8D867-A593-4F5E-BAE7-FE974A8C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A2586-A2ED-4453-8778-9EBB9194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C3C21-A990-4876-B1AA-D196516C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BEDC08-B59D-4C2B-9537-DB88661E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Dynamic replica membership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9F39B-47AD-4962-B497-55E6EB49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4ABA3A-3181-48E1-BA1E-7FAFCA27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D0C372-5F4B-4E7B-BD26-5FB11F58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3BAC10-0A9D-44BF-AFE8-9C5BEEE4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Monitoring pipeline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0FC964-4829-4135-9E04-ADE9165E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095B44-A77E-4985-9708-B31D3D9F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32D687-9A18-4E60-AED7-772FD5C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0B1AAD-28D7-4D34-83EE-3E779F89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MongoDB integration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40EB44-80C9-4C39-9ED4-462F018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4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EE9626-07A6-474F-9CEE-AD7FC503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B63624-2FE4-48F3-AC60-666EED79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D593A4-3433-4621-BCFF-2655882D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ML prediction model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A1AC6C-8365-4CB4-81C1-E059CB8C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B0DF15-8EC2-4743-9EB7-B81C52D5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026592-10DD-4B34-847E-C4856799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4F5DC5-3ADE-41DA-8423-359FE9DA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scaling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BB596F-9473-4F38-A192-246FFC28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0914B4-D813-49F1-A2D0-81B356FA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C03A0E-2CB6-471C-96D8-1F2E930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D1868D-2F11-49EF-9932-2FA0F11F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Predictive scaling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8FF322-6244-4D3C-BE08-4BCED71F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24ED02-1CD6-4DA1-976A-E82B178A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10047E-A63A-43B0-96FF-88DB5E0C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87EF83-17D4-4A0A-9291-F09836A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Adaptive retraining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EE9699-6E7B-47A6-8C0B-260E2988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D75FEE-A008-4B9B-93EF-A42D744D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3E3FF6-7377-4250-AF1A-674B84F3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2C5603-0DCD-4E7C-8E07-7380DCA2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12AAF8-E75C-42DD-82D1-E41A6FA7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38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2D491C-6FB7-4BFA-9754-5B56ADA5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34B089-7F50-495C-A266-729DECD2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8C36F3-1F65-44AF-882F-CC4DFFD7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framework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C6A11D-C618-4430-AFD5-4C2B36E7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43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5DEFB0-D9C1-401F-A79B-EFF9AAC3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78752A-D76D-46EA-AA81-83E33B60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2F57D0-0AFD-4274-B69E-14CA11F9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38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Evaluation experiments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894F15-9F4C-478E-94E9-111591B1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D51833-D920-43A6-90EF-B4ED524C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7620">
            <a:solidFill>
              <a:srgbClr val="F4B18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DC1804-FA1C-41AB-82BD-0865EB7F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F84DA0-2FD8-470D-B496-A707AA97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4417FD-E8C7-47C4-BC68-0C28E8D5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43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06959F-CAD0-42AE-8C1C-C878303A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525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1AFF42-AC32-454F-8A79-E74CF3FD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370DCAA-6B95-415B-9A1E-46448CC4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04C4B6-8331-4C0C-9FC0-99AD01F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and documentation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FBAF297-4F08-4BDF-94D2-EF5FCC74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6591981-F616-4000-A364-FC717458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C1A856A-805F-4013-8FCB-62671EFF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D1CB49C-1586-47C7-BD79-1FF156EB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A7AC8A-8ACA-436F-B22E-9F934418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9371D6-FED6-4659-80DD-F3A07117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6596EA-B967-4DB8-BC9D-F13EBC39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FEBFB8C-B7B9-4761-B4E8-D3BD5321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9CCCA91-588D-4544-BCAE-B6FA1064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956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95656B-6BEB-404B-8AB5-AEB17375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9663A02-8679-49D2-A96C-1D4A19C4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2C174FC-0D5C-444D-A238-C024A739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6224FCF-A01F-47BA-A718-0C2F6D5E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766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D818870-2533-4F40-9292-33089BB8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49F41AA-AE5C-449C-8F24-1E0007AA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654874-C444-4368-B29B-6668065D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8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8536F12-82DC-435A-ACEC-020F68CB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577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B1408DA-E49B-4EF0-ABFD-6680BA36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prototype, data pipeline, policies, dashboard, and fixed evaluation matrix are complete. The remaining work prepares the final analysis, documentation, and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74111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EE647-E10C-4569-8A80-5D99BC95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CURRENT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D2344-2EF0-4FED-BFB9-1F977963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AE8B5-0CD7-4643-85A2-B737AD2F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local evidence captured from the running project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3ACE1-A689-4835-9D10-8BFD5C5E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7048500" cy="414337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5d3d495b04396"/>
          <a:srcRect xmlns:a="http://schemas.openxmlformats.org/drawingml/2006/main" l="0" t="12488" r="0" b="124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71575"/>
            <a:ext cx="6838950" cy="3848100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4B943-AD3B-4DFD-8695-5F666F9A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578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control-loop dashboard: observed status, CPU, predictions, model version, and validation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DFBE5-A978-4B0A-BAAE-46ABE62A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66800"/>
            <a:ext cx="3857625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72575-3236-4F8F-AA69-D81ABA4D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Compose service status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020050" y="1562100"/>
          <a:ext xmlns:a="http://schemas.openxmlformats.org/drawingml/2006/main" cx="3333750" cy="1200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66875"/>
                <a:gridCol w="1666875"/>
              </a:tblGrid>
              <a:tr h="171450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Application replica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MongoDB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Backend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Frontend dashboard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6C83F-486C-45DB-90F6-BB53D82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3857625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685CE-24D5-47DA-AA3E-4400CB48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00E03-DA42-4F16-9630-D1E77F08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00475"/>
            <a:ext cx="3190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FastAPI application replicas expose /health and /work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Nginx routes traffic only to healthy labelled replicas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Backend records observations and read-only APIs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React dashboard polls the API every five seconds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Repository is organised into app, backend, nginx, load-tests, config, docs,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A7CC6-5C28-41D2-B8A7-96B749DF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No pre-existing Locust or terminal screenshots were stored in the repository. This slide therefore uses the verified live dashboard and live Compose service state rather than stock or recreated images.</a:t>
            </a:r>
          </a:p>
        </p:txBody>
      </p:sp>
    </p:spTree>
    <p:extLst>
      <p:ext uri="{BB962C8B-B14F-4D97-AF65-F5344CB8AC3E}">
        <p14:creationId xmlns:p14="http://schemas.microsoft.com/office/powerpoint/2010/main" val="2009167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665EE-BC6A-4A7D-9719-D09B0786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PRELIMINARY RESULTS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3048A-ED6D-4FC4-87C0-80B3DEC0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1D74E-4113-483E-B95D-C33B41B1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Recorded final evaluation matrix: 15 valid policy–workload trials; fixed traces did not trigger scaling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9575" y="1095375"/>
          <a:ext xmlns:a="http://schemas.openxmlformats.org/drawingml/2006/main" cx="6286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921ffa681a4d69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6962775" y="1095375"/>
          <a:ext xmlns:a="http://schemas.openxmlformats.org/drawingml/2006/main" cx="4686300" cy="1952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81050"/>
                <a:gridCol w="781050"/>
                <a:gridCol w="781050"/>
                <a:gridCol w="781050"/>
                <a:gridCol w="781050"/>
                <a:gridCol w="781050"/>
              </a:tblGrid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Trials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Response-time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events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Adaptation attempts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Reactive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7.919–15.531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116.073–175.784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Predictive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7.147–15.933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115.709–118.278 ms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predictive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11.073–16.161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114.434–117.595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51818-DFDE-4E7C-A69D-6817ACBC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38500"/>
            <a:ext cx="4686300" cy="1828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2071bb521477c"/>
          <a:srcRect xmlns:a="http://schemas.openxmlformats.org/drawingml/2006/main" l="0" t="20847" r="0" b="20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58025" y="3333750"/>
            <a:ext cx="4495800" cy="16383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0518D-3C31-466A-98F9-B29AE0E7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958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dashboard view of observed metrics and prediction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6603A-19EA-4714-AB48-4B38818F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6286500" cy="1438275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5F284-9958-49BE-937F-20BD1D34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Reporting 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94BF5-4810-43BB-B6CB-7309A556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5810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All chart and table values come from results/final-evaluation-valid-matrix.csv and .json. The 15 fixed evaluation traces recorded zero scaling events. Separate controlled validation verified scaling and adaptive candidate handling. No performance improvement is claimed from this matrix.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D1CED-FFFA-42FC-9598-8FF51714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Model version recorded for every final-matrix trial: rf-20260917180253-f01e3afc</a:t>
            </a:r>
          </a:p>
        </p:txBody>
      </p:sp>
    </p:spTree>
    <p:extLst>
      <p:ext uri="{BB962C8B-B14F-4D97-AF65-F5344CB8AC3E}">
        <p14:creationId xmlns:p14="http://schemas.microsoft.com/office/powerpoint/2010/main" val="642533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01B88-2E90-41B7-84F0-4B76F0F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HURDLES &amp; MITIGATION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D6954-C6A2-4914-90E2-80A718C5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9575" y="1123950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95625"/>
                <a:gridCol w="8143875"/>
              </a:tblGrid>
              <a:tr h="61232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Hurdle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Docker / WSL environment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Used a reproducible Docker Compose environment and project-scoped labels to keep application control separate from unrelated containers.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Dynamic Nginx replica management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 discovers only healthy labelled replicas, generates an upstream, validates Nginx, then reloads gracefully.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Prediction and target-time alignment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Locked the 30-second horizon and five-second sampling interval; dataset and feedback use chronological target matching.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Persistent prediction errors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service requires threshold breaches across consecutive evaluated predictions before candidate retraining.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Candidate model replacement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Candidate model must pass chronological validation before activation; rejected and superseded versions remain recorded.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Windows command-length limitation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Experiment recorder accepts encoded input through standard input, avoiding oversized command-line payloads.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66F5B-0EA7-41C7-B8E9-3160D001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62625"/>
            <a:ext cx="11239500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06693-4A1D-4F9B-B95E-BA08B555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1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All mitigations describe implemented behaviour or recorded integration issues. They do not claim production-cloud readiness.</a:t>
            </a:r>
          </a:p>
        </p:txBody>
      </p:sp>
    </p:spTree>
    <p:extLst>
      <p:ext uri="{BB962C8B-B14F-4D97-AF65-F5344CB8AC3E}">
        <p14:creationId xmlns:p14="http://schemas.microsoft.com/office/powerpoint/2010/main" val="1677408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58DE22-E24C-44BE-A430-AAAFC274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WORK &amp;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09D2C-707E-4D2A-A770-6C360B5D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9490B-CB2E-4CAC-8980-185DAF75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Remaining delivery work and possible technical extensions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F018A-20F7-488E-9568-E60AA7D0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CC0EF-DA9F-4DB2-934F-93721C89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REMAINING DELIVERY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220F4-3513-43CC-B4F3-049F2741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57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E6D56-1551-46A5-98C8-E226B10D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/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54805-19E6-4863-91F3-F59DC7A8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A002D-F8AC-4FF1-82BD-F7E061F2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28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2DC78-00E5-406B-BC4A-D37BF8D7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86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AB3BB-41DA-4B31-8B63-78CA9E18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43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E97DD-DC30-419A-AFDC-5EA8CB0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7B675-438A-4A3A-B2B1-CCF40531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FB4DC-C1BF-4723-8FF9-26801A64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8F9FD-6B28-4003-8A3F-0C395F1A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FC00E-BAA2-4655-BE0C-F7265AE6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2F997-79EF-4122-BBC1-64930561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58B7D-37D0-49E7-8BF1-4D8F11B7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B09A4-1AF3-4780-AFF0-FC8AC193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A7DCE-9F59-446E-80D5-E5CF55B1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8B172-C393-4A60-A7B0-FD1027F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6FCD2-67C7-4DA6-91BC-9D07DD80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E595E-FE0C-431F-BF74-E010E81E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684A2-0A00-4345-A413-686373B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668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88175-EBD3-4430-BC55-8F08224A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240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6B54F-5713-4715-8A58-F72FDBC4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34FD77-1F49-4C8E-92BE-490B51A3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384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6FAE36-D592-4779-9D50-0F9009EE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956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03EB7-DFA5-4C7A-A74F-63CCECE3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528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ED60F1-6FE0-4D74-BB14-E82239EB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8F2ECC-9CD7-4D80-BC2B-7C0AACB2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POSSIBLE TECHNICAL EXTENSIONS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F8F3FA-484D-46DF-9657-20B3B236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0CF559-4A50-4363-89A8-FBB2B44E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Integrate Locust controls into the 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AC6FF9-DDD4-4047-8AEB-8E0E0978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9E162C-47BE-4055-9D1A-9CA07638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longer and higher-intensity workload experiments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79E3F-88F8-4C8E-AA25-F114D0E0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BD7727-F385-48DF-8E80-525E37C5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Compare additional prediction models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4286CB-667D-401D-A4DD-3FE8A857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8C9076-C052-4E7A-A9A5-0F0C8732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Improve dashboard visualisation and experiment controls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13637B-9523-4879-BC99-96E95A5A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AF8312-1926-4A20-8246-EC31A789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Explore cloud or Kubernetes deployment as future work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01193C-FD8C-40DB-9864-AA5B7C30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67250"/>
            <a:ext cx="4810125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DB137C-8A0E-4E7F-88EE-42DBF8E5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Timeline interpretation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64C4FC-30FD-45DE-83D8-4049EF59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timeline sequences final analysis, documentation, demonstration, presentation, viva preparation, and final validation. Week labels are planning markers, not completed milestones.</a:t>
            </a:r>
          </a:p>
        </p:txBody>
      </p:sp>
    </p:spTree>
    <p:extLst>
      <p:ext uri="{BB962C8B-B14F-4D97-AF65-F5344CB8AC3E}">
        <p14:creationId xmlns:p14="http://schemas.microsoft.com/office/powerpoint/2010/main" val="10510828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2026-09-23T09:52:29.2840000Z</dcterms:created>
  <dcterms:modified xsi:type="dcterms:W3CDTF">2026-09-23T09:52:29.2840000Z</dcterms:modified>
</coreProperties>
</file>